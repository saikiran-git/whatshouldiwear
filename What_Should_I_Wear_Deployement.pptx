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76" r:id="rId3"/>
    <p:sldId id="277" r:id="rId4"/>
    <p:sldId id="278" r:id="rId5"/>
    <p:sldId id="272" r:id="rId6"/>
    <p:sldId id="258" r:id="rId7"/>
    <p:sldId id="260" r:id="rId8"/>
    <p:sldId id="261" r:id="rId9"/>
    <p:sldId id="262" r:id="rId10"/>
    <p:sldId id="259" r:id="rId11"/>
    <p:sldId id="263" r:id="rId12"/>
    <p:sldId id="264" r:id="rId13"/>
    <p:sldId id="268" r:id="rId14"/>
    <p:sldId id="270" r:id="rId15"/>
    <p:sldId id="269" r:id="rId16"/>
    <p:sldId id="265" r:id="rId17"/>
    <p:sldId id="266" r:id="rId18"/>
    <p:sldId id="267" r:id="rId19"/>
    <p:sldId id="271" r:id="rId20"/>
    <p:sldId id="273"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AWS" id="{151C449D-EEA6-4857-9FDD-86F2A92FE07C}">
          <p14:sldIdLst>
            <p14:sldId id="256"/>
            <p14:sldId id="276"/>
            <p14:sldId id="277"/>
            <p14:sldId id="278"/>
            <p14:sldId id="272"/>
            <p14:sldId id="258"/>
            <p14:sldId id="260"/>
            <p14:sldId id="261"/>
            <p14:sldId id="262"/>
            <p14:sldId id="259"/>
            <p14:sldId id="263"/>
            <p14:sldId id="264"/>
            <p14:sldId id="268"/>
            <p14:sldId id="270"/>
            <p14:sldId id="269"/>
            <p14:sldId id="265"/>
            <p14:sldId id="266"/>
            <p14:sldId id="267"/>
            <p14:sldId id="271"/>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726787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626898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5/11/2023</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85590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998610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597728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954796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359702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856740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595754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637603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5/11/2023</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341493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5/11/2023</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2587519033"/>
      </p:ext>
    </p:extLst>
  </p:cSld>
  <p:clrMap bg1="dk1" tx1="lt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24" r:id="rId5"/>
    <p:sldLayoutId id="2147483729" r:id="rId6"/>
    <p:sldLayoutId id="2147483725" r:id="rId7"/>
    <p:sldLayoutId id="2147483726" r:id="rId8"/>
    <p:sldLayoutId id="2147483727" r:id="rId9"/>
    <p:sldLayoutId id="2147483728" r:id="rId10"/>
    <p:sldLayoutId id="2147483730"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ikebelus.net/" TargetMode="External"/><Relationship Id="rId7" Type="http://schemas.openxmlformats.org/officeDocument/2006/relationships/image" Target="../media/image3.png"/><Relationship Id="rId2" Type="http://schemas.openxmlformats.org/officeDocument/2006/relationships/hyperlink" Target="http://localhost:3000/" TargetMode="External"/><Relationship Id="rId1" Type="http://schemas.openxmlformats.org/officeDocument/2006/relationships/slideLayout" Target="../slideLayouts/slideLayout2.xml"/><Relationship Id="rId6" Type="http://schemas.openxmlformats.org/officeDocument/2006/relationships/hyperlink" Target="http://127.0.0.1/" TargetMode="External"/><Relationship Id="rId5" Type="http://schemas.openxmlformats.org/officeDocument/2006/relationships/hyperlink" Target="https://api.mikebelus.net/" TargetMode="External"/><Relationship Id="rId4" Type="http://schemas.openxmlformats.org/officeDocument/2006/relationships/hyperlink" Target="http://localhost:400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0" name="Picture 6" descr="What Is AWS (Amazon Web Services)? Services and Applications | Simplilearn">
            <a:extLst>
              <a:ext uri="{FF2B5EF4-FFF2-40B4-BE49-F238E27FC236}">
                <a16:creationId xmlns:a16="http://schemas.microsoft.com/office/drawing/2014/main" id="{95125F12-B071-6470-8B85-7902BF786758}"/>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t="6" r="1" b="1"/>
          <a:stretch/>
        </p:blipFill>
        <p:spPr bwMode="auto">
          <a:xfrm>
            <a:off x="-688" y="-4"/>
            <a:ext cx="1219268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082" name="Group 1081">
            <a:extLst>
              <a:ext uri="{FF2B5EF4-FFF2-40B4-BE49-F238E27FC236}">
                <a16:creationId xmlns:a16="http://schemas.microsoft.com/office/drawing/2014/main" id="{24A5CBF4-323E-4A2D-A9CD-A3CC0050D9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2406074" y="-5"/>
            <a:ext cx="9785926" cy="6858004"/>
            <a:chOff x="0" y="-3"/>
            <a:chExt cx="9785926" cy="6858004"/>
          </a:xfrm>
        </p:grpSpPr>
        <p:grpSp>
          <p:nvGrpSpPr>
            <p:cNvPr id="1083" name="Group 1082">
              <a:extLst>
                <a:ext uri="{FF2B5EF4-FFF2-40B4-BE49-F238E27FC236}">
                  <a16:creationId xmlns:a16="http://schemas.microsoft.com/office/drawing/2014/main" id="{45BFDCD0-B536-4527-AB6E-79B0E4EDD0C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
              <a:ext cx="9767888" cy="6858003"/>
              <a:chOff x="0" y="-3"/>
              <a:chExt cx="9767888" cy="6858003"/>
            </a:xfrm>
          </p:grpSpPr>
          <p:sp>
            <p:nvSpPr>
              <p:cNvPr id="1091" name="Rectangle 1090">
                <a:extLst>
                  <a:ext uri="{FF2B5EF4-FFF2-40B4-BE49-F238E27FC236}">
                    <a16:creationId xmlns:a16="http://schemas.microsoft.com/office/drawing/2014/main" id="{1850C5E2-9BE7-4321-8945-320FE5AA9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28999"/>
                <a:ext cx="9767888" cy="3429001"/>
              </a:xfrm>
              <a:prstGeom prst="rect">
                <a:avLst/>
              </a:prstGeom>
              <a:gradFill flip="none" rotWithShape="1">
                <a:gsLst>
                  <a:gs pos="32000">
                    <a:schemeClr val="bg1">
                      <a:alpha val="60000"/>
                    </a:schemeClr>
                  </a:gs>
                  <a:gs pos="0">
                    <a:schemeClr val="bg1">
                      <a:alpha val="80000"/>
                    </a:schemeClr>
                  </a:gs>
                  <a:gs pos="63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2" name="Rectangle 1091">
                <a:extLst>
                  <a:ext uri="{FF2B5EF4-FFF2-40B4-BE49-F238E27FC236}">
                    <a16:creationId xmlns:a16="http://schemas.microsoft.com/office/drawing/2014/main" id="{07B89D3D-F057-4F89-87AC-DBA5FD04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0" y="-3"/>
                <a:ext cx="9767888" cy="3428999"/>
              </a:xfrm>
              <a:prstGeom prst="rect">
                <a:avLst/>
              </a:prstGeom>
              <a:gradFill flip="none" rotWithShape="1">
                <a:gsLst>
                  <a:gs pos="32000">
                    <a:schemeClr val="bg1">
                      <a:alpha val="60000"/>
                    </a:schemeClr>
                  </a:gs>
                  <a:gs pos="0">
                    <a:schemeClr val="bg1">
                      <a:alpha val="80000"/>
                    </a:schemeClr>
                  </a:gs>
                  <a:gs pos="63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84" name="Group 1083">
              <a:extLst>
                <a:ext uri="{FF2B5EF4-FFF2-40B4-BE49-F238E27FC236}">
                  <a16:creationId xmlns:a16="http://schemas.microsoft.com/office/drawing/2014/main" id="{95B5518D-4B46-4866-BF9F-D6550DA002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1"/>
              <a:ext cx="9785926" cy="6858002"/>
              <a:chOff x="0" y="-1"/>
              <a:chExt cx="9785926" cy="6858002"/>
            </a:xfrm>
          </p:grpSpPr>
          <p:sp>
            <p:nvSpPr>
              <p:cNvPr id="1089" name="Rectangle 1088">
                <a:extLst>
                  <a:ext uri="{FF2B5EF4-FFF2-40B4-BE49-F238E27FC236}">
                    <a16:creationId xmlns:a16="http://schemas.microsoft.com/office/drawing/2014/main" id="{71673445-12E5-48F8-BEF8-87016BBC5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29000"/>
                <a:ext cx="9785926" cy="3429001"/>
              </a:xfrm>
              <a:prstGeom prst="rect">
                <a:avLst/>
              </a:prstGeom>
              <a:gradFill flip="none" rotWithShape="1">
                <a:gsLst>
                  <a:gs pos="0">
                    <a:schemeClr val="accent3"/>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0" name="Rectangle 1089">
                <a:extLst>
                  <a:ext uri="{FF2B5EF4-FFF2-40B4-BE49-F238E27FC236}">
                    <a16:creationId xmlns:a16="http://schemas.microsoft.com/office/drawing/2014/main" id="{3ACC629B-B138-4925-BE58-F4E4E2CC8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0" y="-1"/>
                <a:ext cx="9785926" cy="3428999"/>
              </a:xfrm>
              <a:prstGeom prst="rect">
                <a:avLst/>
              </a:prstGeom>
              <a:gradFill flip="none" rotWithShape="1">
                <a:gsLst>
                  <a:gs pos="0">
                    <a:schemeClr val="accent3"/>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85" name="Rectangle 1084">
              <a:extLst>
                <a:ext uri="{FF2B5EF4-FFF2-40B4-BE49-F238E27FC236}">
                  <a16:creationId xmlns:a16="http://schemas.microsoft.com/office/drawing/2014/main" id="{8F565D01-6AAA-4149-B7F9-257DDE044A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V="1">
              <a:off x="1241733" y="-1241732"/>
              <a:ext cx="6312874" cy="8796338"/>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6" name="Group 1085">
              <a:extLst>
                <a:ext uri="{FF2B5EF4-FFF2-40B4-BE49-F238E27FC236}">
                  <a16:creationId xmlns:a16="http://schemas.microsoft.com/office/drawing/2014/main" id="{4A26A215-743C-44FA-BCDF-557D447DD8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1"/>
              <a:ext cx="9768670" cy="6858002"/>
              <a:chOff x="0" y="-1"/>
              <a:chExt cx="9768670" cy="6858002"/>
            </a:xfrm>
          </p:grpSpPr>
          <p:sp>
            <p:nvSpPr>
              <p:cNvPr id="1087" name="Rectangle 1086">
                <a:extLst>
                  <a:ext uri="{FF2B5EF4-FFF2-40B4-BE49-F238E27FC236}">
                    <a16:creationId xmlns:a16="http://schemas.microsoft.com/office/drawing/2014/main" id="{DDC24E92-BC4D-4062-B4E9-06E64DFC6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2" y="3429000"/>
                <a:ext cx="9767888" cy="3429001"/>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8" name="Rectangle 1087">
                <a:extLst>
                  <a:ext uri="{FF2B5EF4-FFF2-40B4-BE49-F238E27FC236}">
                    <a16:creationId xmlns:a16="http://schemas.microsoft.com/office/drawing/2014/main" id="{736FDDFC-223B-4390-8055-FA8AA406EF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0" y="-1"/>
                <a:ext cx="9767888" cy="342899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5F72F703-F7B4-D6DE-2E79-965219415B9B}"/>
              </a:ext>
            </a:extLst>
          </p:cNvPr>
          <p:cNvSpPr>
            <a:spLocks noGrp="1"/>
          </p:cNvSpPr>
          <p:nvPr>
            <p:ph type="ctrTitle"/>
          </p:nvPr>
        </p:nvSpPr>
        <p:spPr>
          <a:xfrm>
            <a:off x="7153200" y="540000"/>
            <a:ext cx="4500561" cy="2441325"/>
          </a:xfrm>
        </p:spPr>
        <p:txBody>
          <a:bodyPr vert="horz" lIns="91440" tIns="45720" rIns="91440" bIns="45720" rtlCol="0">
            <a:normAutofit/>
          </a:bodyPr>
          <a:lstStyle/>
          <a:p>
            <a:r>
              <a:rPr lang="en-US" sz="5500" b="1" i="1" dirty="0">
                <a:solidFill>
                  <a:srgbClr val="FFFFFF"/>
                </a:solidFill>
              </a:rPr>
              <a:t>What Should I Wear Deployment</a:t>
            </a:r>
          </a:p>
        </p:txBody>
      </p:sp>
      <p:sp>
        <p:nvSpPr>
          <p:cNvPr id="3" name="Subtitle 2">
            <a:extLst>
              <a:ext uri="{FF2B5EF4-FFF2-40B4-BE49-F238E27FC236}">
                <a16:creationId xmlns:a16="http://schemas.microsoft.com/office/drawing/2014/main" id="{E59ADEB7-364A-4F91-20AC-A4FE8825EDD5}"/>
              </a:ext>
            </a:extLst>
          </p:cNvPr>
          <p:cNvSpPr>
            <a:spLocks noGrp="1"/>
          </p:cNvSpPr>
          <p:nvPr>
            <p:ph type="subTitle" idx="1"/>
          </p:nvPr>
        </p:nvSpPr>
        <p:spPr>
          <a:xfrm>
            <a:off x="7153200" y="3676650"/>
            <a:ext cx="4500561" cy="2632075"/>
          </a:xfrm>
        </p:spPr>
        <p:txBody>
          <a:bodyPr vert="horz" lIns="91440" tIns="45720" rIns="91440" bIns="45720" rtlCol="0">
            <a:normAutofit/>
          </a:bodyPr>
          <a:lstStyle/>
          <a:p>
            <a:pPr>
              <a:lnSpc>
                <a:spcPct val="115000"/>
              </a:lnSpc>
            </a:pPr>
            <a:r>
              <a:rPr lang="en-US" sz="1400" b="1" spc="50" dirty="0">
                <a:solidFill>
                  <a:srgbClr val="FFFFFF"/>
                </a:solidFill>
              </a:rPr>
              <a:t>A Project By:</a:t>
            </a:r>
          </a:p>
          <a:p>
            <a:pPr indent="-270000">
              <a:lnSpc>
                <a:spcPct val="115000"/>
              </a:lnSpc>
              <a:buFont typeface="Arial" panose="020B0604020202020204" pitchFamily="34" charset="0"/>
              <a:buChar char="•"/>
            </a:pPr>
            <a:endParaRPr lang="en-US" sz="1400" b="1" spc="50" dirty="0">
              <a:solidFill>
                <a:srgbClr val="FFFFFF"/>
              </a:solidFill>
            </a:endParaRPr>
          </a:p>
          <a:p>
            <a:pPr indent="-270000">
              <a:lnSpc>
                <a:spcPct val="115000"/>
              </a:lnSpc>
              <a:buFont typeface="Arial" panose="020B0604020202020204" pitchFamily="34" charset="0"/>
              <a:buChar char="•"/>
            </a:pPr>
            <a:r>
              <a:rPr lang="en-US" sz="1400" b="1" spc="50" dirty="0">
                <a:solidFill>
                  <a:srgbClr val="FFFFFF"/>
                </a:solidFill>
              </a:rPr>
              <a:t>Sai Kiran Angalakudhiti</a:t>
            </a:r>
          </a:p>
          <a:p>
            <a:pPr indent="-270000">
              <a:lnSpc>
                <a:spcPct val="115000"/>
              </a:lnSpc>
              <a:buFont typeface="Arial" panose="020B0604020202020204" pitchFamily="34" charset="0"/>
              <a:buChar char="•"/>
            </a:pPr>
            <a:r>
              <a:rPr lang="en-US" sz="1400" b="1" spc="50" dirty="0">
                <a:solidFill>
                  <a:srgbClr val="FFFFFF"/>
                </a:solidFill>
              </a:rPr>
              <a:t>Meghana REDdy Peram</a:t>
            </a:r>
          </a:p>
          <a:p>
            <a:pPr indent="-270000">
              <a:lnSpc>
                <a:spcPct val="115000"/>
              </a:lnSpc>
              <a:buFont typeface="Arial" panose="020B0604020202020204" pitchFamily="34" charset="0"/>
              <a:buChar char="•"/>
            </a:pPr>
            <a:r>
              <a:rPr lang="en-US" sz="1400" b="1" spc="50" dirty="0">
                <a:solidFill>
                  <a:srgbClr val="FFFFFF"/>
                </a:solidFill>
              </a:rPr>
              <a:t>Esther Mona Kodavalli</a:t>
            </a:r>
          </a:p>
          <a:p>
            <a:pPr indent="-270000">
              <a:lnSpc>
                <a:spcPct val="115000"/>
              </a:lnSpc>
              <a:buFont typeface="Arial" panose="020B0604020202020204" pitchFamily="34" charset="0"/>
              <a:buChar char="•"/>
            </a:pPr>
            <a:r>
              <a:rPr lang="en-US" sz="1400" b="1" spc="50" dirty="0">
                <a:solidFill>
                  <a:srgbClr val="FFFFFF"/>
                </a:solidFill>
              </a:rPr>
              <a:t>Subrahmanyam upputurI</a:t>
            </a:r>
          </a:p>
          <a:p>
            <a:pPr indent="-270000">
              <a:lnSpc>
                <a:spcPct val="115000"/>
              </a:lnSpc>
              <a:buFont typeface="Arial" panose="020B0604020202020204" pitchFamily="34" charset="0"/>
              <a:buChar char="•"/>
            </a:pPr>
            <a:r>
              <a:rPr lang="en-US" sz="1400" b="1" spc="50" dirty="0">
                <a:solidFill>
                  <a:srgbClr val="FFFFFF"/>
                </a:solidFill>
              </a:rPr>
              <a:t>Vamsi Abhiram GurU</a:t>
            </a:r>
          </a:p>
        </p:txBody>
      </p:sp>
    </p:spTree>
    <p:extLst>
      <p:ext uri="{BB962C8B-B14F-4D97-AF65-F5344CB8AC3E}">
        <p14:creationId xmlns:p14="http://schemas.microsoft.com/office/powerpoint/2010/main" val="896744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1" name="Rectangle 10">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4" name="Group 13">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9" name="Rectangle 18">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5" name="Group 14">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7" name="Rectangle 16">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2" name="Rectangle 21">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4" name="Rectangle 23">
            <a:extLst>
              <a:ext uri="{FF2B5EF4-FFF2-40B4-BE49-F238E27FC236}">
                <a16:creationId xmlns:a16="http://schemas.microsoft.com/office/drawing/2014/main" id="{9C51935E-4A08-4AE4-8E13-F40CD3C4F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377E7A-C52F-5EEC-1BB2-B50B977B07EF}"/>
              </a:ext>
            </a:extLst>
          </p:cNvPr>
          <p:cNvSpPr>
            <a:spLocks noGrp="1"/>
          </p:cNvSpPr>
          <p:nvPr>
            <p:ph type="title"/>
          </p:nvPr>
        </p:nvSpPr>
        <p:spPr>
          <a:xfrm>
            <a:off x="550863" y="545125"/>
            <a:ext cx="4500562" cy="5767748"/>
          </a:xfrm>
        </p:spPr>
        <p:txBody>
          <a:bodyPr vert="horz" lIns="91440" tIns="45720" rIns="91440" bIns="45720" rtlCol="0" anchor="t">
            <a:normAutofit/>
          </a:bodyPr>
          <a:lstStyle/>
          <a:p>
            <a:r>
              <a:rPr lang="en-US" sz="6200" b="1"/>
              <a:t>Changes that should be done in code before pushing into github</a:t>
            </a:r>
          </a:p>
        </p:txBody>
      </p:sp>
      <p:sp>
        <p:nvSpPr>
          <p:cNvPr id="3" name="Content Placeholder 2">
            <a:extLst>
              <a:ext uri="{FF2B5EF4-FFF2-40B4-BE49-F238E27FC236}">
                <a16:creationId xmlns:a16="http://schemas.microsoft.com/office/drawing/2014/main" id="{CDFAC937-B5A4-E907-CD1B-356350E083D8}"/>
              </a:ext>
            </a:extLst>
          </p:cNvPr>
          <p:cNvSpPr>
            <a:spLocks noGrp="1"/>
          </p:cNvSpPr>
          <p:nvPr>
            <p:ph idx="1"/>
          </p:nvPr>
        </p:nvSpPr>
        <p:spPr>
          <a:xfrm>
            <a:off x="5232400" y="4508500"/>
            <a:ext cx="6408736" cy="1044575"/>
          </a:xfrm>
        </p:spPr>
        <p:txBody>
          <a:bodyPr vert="horz" lIns="91440" tIns="45720" rIns="91440" bIns="45720" rtlCol="0" anchor="b">
            <a:normAutofit/>
          </a:bodyPr>
          <a:lstStyle/>
          <a:p>
            <a:pPr marL="0" indent="0">
              <a:buNone/>
            </a:pPr>
            <a:r>
              <a:rPr lang="en-US" sz="1600" cap="all" spc="300" dirty="0"/>
              <a:t>1. In </a:t>
            </a:r>
            <a:r>
              <a:rPr lang="en-US" sz="1600" cap="all" spc="300" dirty="0" err="1"/>
              <a:t>wsiwapi</a:t>
            </a:r>
            <a:r>
              <a:rPr lang="en-US" sz="1600" cap="all" spc="300" dirty="0"/>
              <a:t> Go to config folder and in dbconfig.js change the details to the above picture.</a:t>
            </a:r>
          </a:p>
        </p:txBody>
      </p:sp>
      <p:pic>
        <p:nvPicPr>
          <p:cNvPr id="5" name="Picture 4">
            <a:extLst>
              <a:ext uri="{FF2B5EF4-FFF2-40B4-BE49-F238E27FC236}">
                <a16:creationId xmlns:a16="http://schemas.microsoft.com/office/drawing/2014/main" id="{2931AC7F-0B28-72A6-5E5C-2967D1AA8E81}"/>
              </a:ext>
            </a:extLst>
          </p:cNvPr>
          <p:cNvPicPr>
            <a:picLocks noChangeAspect="1"/>
          </p:cNvPicPr>
          <p:nvPr/>
        </p:nvPicPr>
        <p:blipFill>
          <a:blip r:embed="rId2">
            <a:alphaModFix/>
          </a:blip>
          <a:stretch>
            <a:fillRect/>
          </a:stretch>
        </p:blipFill>
        <p:spPr>
          <a:xfrm>
            <a:off x="5232400" y="1109837"/>
            <a:ext cx="6408735" cy="2659625"/>
          </a:xfrm>
          <a:prstGeom prst="rect">
            <a:avLst/>
          </a:prstGeom>
        </p:spPr>
      </p:pic>
    </p:spTree>
    <p:extLst>
      <p:ext uri="{BB962C8B-B14F-4D97-AF65-F5344CB8AC3E}">
        <p14:creationId xmlns:p14="http://schemas.microsoft.com/office/powerpoint/2010/main" val="2672569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 name="Rectangle 97">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7" name="Group 99">
            <a:extLst>
              <a:ext uri="{FF2B5EF4-FFF2-40B4-BE49-F238E27FC236}">
                <a16:creationId xmlns:a16="http://schemas.microsoft.com/office/drawing/2014/main" id="{987A62DB-71D7-497D-BE1C-933ECB515A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108" name="Oval 100">
              <a:extLst>
                <a:ext uri="{FF2B5EF4-FFF2-40B4-BE49-F238E27FC236}">
                  <a16:creationId xmlns:a16="http://schemas.microsoft.com/office/drawing/2014/main" id="{FDAC2767-A7E3-4697-90F6-443A583140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1">
              <a:extLst>
                <a:ext uri="{FF2B5EF4-FFF2-40B4-BE49-F238E27FC236}">
                  <a16:creationId xmlns:a16="http://schemas.microsoft.com/office/drawing/2014/main" id="{AB23E396-A746-411A-8709-32ABC4DDE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2">
              <a:extLst>
                <a:ext uri="{FF2B5EF4-FFF2-40B4-BE49-F238E27FC236}">
                  <a16:creationId xmlns:a16="http://schemas.microsoft.com/office/drawing/2014/main" id="{D135C986-CB82-4211-A910-D232B9BCA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05" name="Freeform: Shape 104">
            <a:extLst>
              <a:ext uri="{FF2B5EF4-FFF2-40B4-BE49-F238E27FC236}">
                <a16:creationId xmlns:a16="http://schemas.microsoft.com/office/drawing/2014/main" id="{837F2C8F-CC11-4A18-AA7E-AE8C022CD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6D4BEA0-A0EA-AB63-1B72-7F8839AE0267}"/>
              </a:ext>
            </a:extLst>
          </p:cNvPr>
          <p:cNvSpPr>
            <a:spLocks noGrp="1"/>
          </p:cNvSpPr>
          <p:nvPr>
            <p:ph type="title"/>
          </p:nvPr>
        </p:nvSpPr>
        <p:spPr>
          <a:xfrm>
            <a:off x="540000" y="540000"/>
            <a:ext cx="4500561" cy="2181946"/>
          </a:xfrm>
        </p:spPr>
        <p:txBody>
          <a:bodyPr anchor="t">
            <a:normAutofit/>
          </a:bodyPr>
          <a:lstStyle/>
          <a:p>
            <a:r>
              <a:rPr lang="en-US" sz="5600" b="1" dirty="0"/>
              <a:t>Continuation</a:t>
            </a:r>
          </a:p>
        </p:txBody>
      </p:sp>
      <p:sp>
        <p:nvSpPr>
          <p:cNvPr id="3" name="Content Placeholder 2">
            <a:extLst>
              <a:ext uri="{FF2B5EF4-FFF2-40B4-BE49-F238E27FC236}">
                <a16:creationId xmlns:a16="http://schemas.microsoft.com/office/drawing/2014/main" id="{89AB7D60-2AFD-C2CF-289E-05F3783EBCB7}"/>
              </a:ext>
            </a:extLst>
          </p:cNvPr>
          <p:cNvSpPr>
            <a:spLocks noGrp="1"/>
          </p:cNvSpPr>
          <p:nvPr>
            <p:ph idx="1"/>
          </p:nvPr>
        </p:nvSpPr>
        <p:spPr>
          <a:xfrm>
            <a:off x="569124" y="1508846"/>
            <a:ext cx="4500562" cy="4809154"/>
          </a:xfrm>
        </p:spPr>
        <p:txBody>
          <a:bodyPr anchor="t">
            <a:normAutofit/>
          </a:bodyPr>
          <a:lstStyle/>
          <a:p>
            <a:pPr>
              <a:lnSpc>
                <a:spcPct val="115000"/>
              </a:lnSpc>
            </a:pPr>
            <a:r>
              <a:rPr lang="en-US" sz="1400" dirty="0"/>
              <a:t>Change the </a:t>
            </a:r>
            <a:r>
              <a:rPr lang="en-US" sz="1400" dirty="0">
                <a:hlinkClick r:id="rId2"/>
              </a:rPr>
              <a:t>http://localhost:3000</a:t>
            </a:r>
            <a:r>
              <a:rPr lang="en-US" sz="1400" dirty="0"/>
              <a:t> to </a:t>
            </a:r>
            <a:r>
              <a:rPr lang="en-US" sz="1400" dirty="0">
                <a:hlinkClick r:id="rId3"/>
              </a:rPr>
              <a:t>https://mikebelus.net</a:t>
            </a:r>
            <a:r>
              <a:rPr lang="en-US" sz="1400" dirty="0"/>
              <a:t> and </a:t>
            </a:r>
            <a:r>
              <a:rPr lang="en-US" sz="1400" dirty="0">
                <a:hlinkClick r:id="rId4"/>
              </a:rPr>
              <a:t>http://localhost:4000</a:t>
            </a:r>
            <a:r>
              <a:rPr lang="en-US" sz="1400" dirty="0"/>
              <a:t> to </a:t>
            </a:r>
            <a:r>
              <a:rPr lang="en-US" sz="1400" dirty="0">
                <a:hlinkClick r:id="rId5"/>
              </a:rPr>
              <a:t>https://api.mikebelus.net</a:t>
            </a:r>
            <a:r>
              <a:rPr lang="en-US" sz="1400" dirty="0"/>
              <a:t> in both WSIWApi and WSIWUI folders.</a:t>
            </a:r>
          </a:p>
          <a:p>
            <a:pPr>
              <a:lnSpc>
                <a:spcPct val="115000"/>
              </a:lnSpc>
            </a:pPr>
            <a:r>
              <a:rPr lang="en-US" sz="1400" dirty="0"/>
              <a:t>Change </a:t>
            </a:r>
            <a:r>
              <a:rPr lang="en-US" sz="1400" dirty="0">
                <a:hlinkClick r:id="rId6"/>
              </a:rPr>
              <a:t>http://127.0.0.1</a:t>
            </a:r>
            <a:r>
              <a:rPr lang="en-US" sz="1400" dirty="0"/>
              <a:t> to </a:t>
            </a:r>
            <a:r>
              <a:rPr lang="en-US" sz="1400" dirty="0">
                <a:hlinkClick r:id="rId5"/>
              </a:rPr>
              <a:t>https://api.mikebelus.net</a:t>
            </a:r>
            <a:r>
              <a:rPr lang="en-US" sz="1400" dirty="0"/>
              <a:t> in both folders.</a:t>
            </a:r>
          </a:p>
          <a:p>
            <a:r>
              <a:rPr lang="en-US" sz="1400" dirty="0"/>
              <a:t>Go to weather.py in routes folder that’s present in WSIWAPI. Change the </a:t>
            </a:r>
            <a:r>
              <a:rPr lang="en-US" sz="1400" dirty="0" err="1"/>
              <a:t>db</a:t>
            </a:r>
            <a:r>
              <a:rPr lang="en-US" sz="1400" dirty="0"/>
              <a:t> details that are in two places which is in the start of code and end of the code which are uncommented as shown in the below picture to </a:t>
            </a:r>
            <a:r>
              <a:rPr lang="en-US" sz="1400" b="0" dirty="0" err="1">
                <a:solidFill>
                  <a:srgbClr val="9CDCFE"/>
                </a:solidFill>
                <a:effectLst/>
                <a:latin typeface="Consolas" panose="020B0609020204030204" pitchFamily="49" charset="0"/>
              </a:rPr>
              <a:t>db</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dirty="0">
                <a:solidFill>
                  <a:srgbClr val="CCCCCC"/>
                </a:solidFill>
                <a:latin typeface="Consolas" panose="020B0609020204030204" pitchFamily="49" charset="0"/>
              </a:rPr>
              <a:t> </a:t>
            </a:r>
            <a:r>
              <a:rPr lang="en-US" sz="1400" b="0" dirty="0" err="1">
                <a:solidFill>
                  <a:srgbClr val="4EC9B0"/>
                </a:solidFill>
                <a:effectLst/>
                <a:latin typeface="Consolas" panose="020B0609020204030204" pitchFamily="49" charset="0"/>
              </a:rPr>
              <a:t>pymysql</a:t>
            </a:r>
            <a:r>
              <a:rPr lang="en-US" sz="1400" b="0" dirty="0" err="1">
                <a:solidFill>
                  <a:srgbClr val="CCCCCC"/>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connect</a:t>
            </a:r>
            <a:r>
              <a:rPr lang="en-US" sz="1400" b="0" dirty="0">
                <a:solidFill>
                  <a:srgbClr val="CCCCCC"/>
                </a:solidFill>
                <a:effectLst/>
                <a:latin typeface="Consolas" panose="020B0609020204030204" pitchFamily="49" charset="0"/>
              </a:rPr>
              <a:t>(</a:t>
            </a:r>
            <a:r>
              <a:rPr lang="en-US" sz="1400" b="0" dirty="0">
                <a:solidFill>
                  <a:srgbClr val="9CDCFE"/>
                </a:solidFill>
                <a:effectLst/>
                <a:latin typeface="Consolas" panose="020B0609020204030204" pitchFamily="49" charset="0"/>
              </a:rPr>
              <a:t>host</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"wsiwdb.ccciy990gxje.us-east-1.rds.amazonaws.com"</a:t>
            </a: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user</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wsiwdb</a:t>
            </a:r>
            <a:r>
              <a:rPr lang="en-US" sz="1400" b="0" dirty="0">
                <a:solidFill>
                  <a:srgbClr val="CE9178"/>
                </a:solidFill>
                <a:effectLst/>
                <a:latin typeface="Consolas" panose="020B0609020204030204" pitchFamily="49" charset="0"/>
              </a:rPr>
              <a:t>"</a:t>
            </a:r>
            <a:r>
              <a:rPr lang="en-US" sz="1400" b="0" dirty="0">
                <a:solidFill>
                  <a:srgbClr val="CCCCCC"/>
                </a:solidFill>
                <a:effectLst/>
                <a:latin typeface="Consolas" panose="020B0609020204030204" pitchFamily="49" charset="0"/>
              </a:rPr>
              <a:t>,</a:t>
            </a:r>
            <a:r>
              <a:rPr lang="en-US" sz="1400" b="0" dirty="0">
                <a:solidFill>
                  <a:srgbClr val="9CDCFE"/>
                </a:solidFill>
                <a:effectLst/>
                <a:latin typeface="Consolas" panose="020B0609020204030204" pitchFamily="49" charset="0"/>
              </a:rPr>
              <a:t>passwd</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"wsiw1234"</a:t>
            </a:r>
            <a:r>
              <a:rPr lang="en-US" sz="1400" b="0" dirty="0">
                <a:solidFill>
                  <a:srgbClr val="CCCCCC"/>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db</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what_should_i_wear</a:t>
            </a:r>
            <a:r>
              <a:rPr lang="en-US" sz="1400" b="0" dirty="0">
                <a:solidFill>
                  <a:srgbClr val="CE9178"/>
                </a:solidFill>
                <a:effectLst/>
                <a:latin typeface="Consolas" panose="020B0609020204030204" pitchFamily="49" charset="0"/>
              </a:rPr>
              <a:t>"</a:t>
            </a:r>
            <a:r>
              <a:rPr lang="en-US" sz="1400" b="0" dirty="0">
                <a:solidFill>
                  <a:srgbClr val="CCCCCC"/>
                </a:solidFill>
                <a:effectLst/>
                <a:latin typeface="Consolas" panose="020B0609020204030204" pitchFamily="49" charset="0"/>
              </a:rPr>
              <a:t>)</a:t>
            </a:r>
          </a:p>
          <a:p>
            <a:pPr>
              <a:lnSpc>
                <a:spcPct val="115000"/>
              </a:lnSpc>
            </a:pPr>
            <a:endParaRPr lang="en-US" sz="1400" dirty="0"/>
          </a:p>
        </p:txBody>
      </p:sp>
      <p:pic>
        <p:nvPicPr>
          <p:cNvPr id="5" name="Picture 4">
            <a:extLst>
              <a:ext uri="{FF2B5EF4-FFF2-40B4-BE49-F238E27FC236}">
                <a16:creationId xmlns:a16="http://schemas.microsoft.com/office/drawing/2014/main" id="{661D7FA8-9AEC-819F-61F7-6F64836AE0F5}"/>
              </a:ext>
            </a:extLst>
          </p:cNvPr>
          <p:cNvPicPr>
            <a:picLocks noChangeAspect="1"/>
          </p:cNvPicPr>
          <p:nvPr/>
        </p:nvPicPr>
        <p:blipFill rotWithShape="1">
          <a:blip r:embed="rId7"/>
          <a:srcRect l="3750" r="40000"/>
          <a:stretch/>
        </p:blipFill>
        <p:spPr>
          <a:xfrm>
            <a:off x="6096000" y="1164964"/>
            <a:ext cx="4314750" cy="4314750"/>
          </a:xfrm>
          <a:prstGeom prst="rect">
            <a:avLst/>
          </a:prstGeom>
        </p:spPr>
      </p:pic>
    </p:spTree>
    <p:extLst>
      <p:ext uri="{BB962C8B-B14F-4D97-AF65-F5344CB8AC3E}">
        <p14:creationId xmlns:p14="http://schemas.microsoft.com/office/powerpoint/2010/main" val="774886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76F4-E105-8507-8592-275DC43731D0}"/>
              </a:ext>
            </a:extLst>
          </p:cNvPr>
          <p:cNvSpPr>
            <a:spLocks noGrp="1"/>
          </p:cNvSpPr>
          <p:nvPr>
            <p:ph type="title"/>
          </p:nvPr>
        </p:nvSpPr>
        <p:spPr/>
        <p:txBody>
          <a:bodyPr/>
          <a:lstStyle/>
          <a:p>
            <a:pPr algn="ctr"/>
            <a:r>
              <a:rPr lang="en-US" b="1" i="1" dirty="0"/>
              <a:t>Remove the API key before deploying</a:t>
            </a:r>
          </a:p>
        </p:txBody>
      </p:sp>
      <p:sp>
        <p:nvSpPr>
          <p:cNvPr id="3" name="Content Placeholder 2">
            <a:extLst>
              <a:ext uri="{FF2B5EF4-FFF2-40B4-BE49-F238E27FC236}">
                <a16:creationId xmlns:a16="http://schemas.microsoft.com/office/drawing/2014/main" id="{C4CFC42B-8BDD-5FC4-1243-D005F8F96E44}"/>
              </a:ext>
            </a:extLst>
          </p:cNvPr>
          <p:cNvSpPr>
            <a:spLocks noGrp="1"/>
          </p:cNvSpPr>
          <p:nvPr>
            <p:ph idx="1"/>
          </p:nvPr>
        </p:nvSpPr>
        <p:spPr>
          <a:xfrm>
            <a:off x="539999" y="2618582"/>
            <a:ext cx="11101136" cy="3779837"/>
          </a:xfrm>
        </p:spPr>
        <p:txBody>
          <a:bodyPr>
            <a:normAutofit lnSpcReduction="10000"/>
          </a:bodyPr>
          <a:lstStyle/>
          <a:p>
            <a:r>
              <a:rPr lang="en-US" dirty="0"/>
              <a:t>Add the API key which is there in 5 locations in WSIWUI and in 1 location in WSIWAPI in file WSIWAPI -&gt; Routes -&gt; Weather.py.</a:t>
            </a:r>
          </a:p>
          <a:p>
            <a:r>
              <a:rPr lang="en-US" dirty="0"/>
              <a:t>Out of 5 locations in WSIWUI folder one of the folder has a variable declared script.src. Replace that line with script.src = `https://maps.googleapis.com/maps/</a:t>
            </a:r>
            <a:r>
              <a:rPr lang="en-US" dirty="0" err="1"/>
              <a:t>api</a:t>
            </a:r>
            <a:r>
              <a:rPr lang="en-US" dirty="0"/>
              <a:t>/</a:t>
            </a:r>
            <a:r>
              <a:rPr lang="en-US" dirty="0" err="1"/>
              <a:t>js?key</a:t>
            </a:r>
            <a:r>
              <a:rPr lang="en-US" dirty="0"/>
              <a:t>=AIzaSyDSIedyMpzBVSexnWREj7XJYLG30p1Dhw8&amp;libraries=places`;</a:t>
            </a:r>
          </a:p>
          <a:p>
            <a:r>
              <a:rPr lang="en-US" dirty="0"/>
              <a:t>After deploying click nano filename.js and go to the line where we cleared the api_key to the empty string and paste the key again. So, basically the key is AIzaSyDSIedyMpzBVSexnWREj7XJYLG30p1Dhw8.</a:t>
            </a:r>
          </a:p>
          <a:p>
            <a:r>
              <a:rPr lang="en-US" dirty="0"/>
              <a:t>Make sure the key is erased from the file but not commented when pushing into git.</a:t>
            </a:r>
          </a:p>
        </p:txBody>
      </p:sp>
    </p:spTree>
    <p:extLst>
      <p:ext uri="{BB962C8B-B14F-4D97-AF65-F5344CB8AC3E}">
        <p14:creationId xmlns:p14="http://schemas.microsoft.com/office/powerpoint/2010/main" val="3577063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80208-383A-7294-8C4C-FED5FA6C0432}"/>
              </a:ext>
            </a:extLst>
          </p:cNvPr>
          <p:cNvSpPr>
            <a:spLocks noGrp="1"/>
          </p:cNvSpPr>
          <p:nvPr>
            <p:ph type="title"/>
          </p:nvPr>
        </p:nvSpPr>
        <p:spPr/>
        <p:txBody>
          <a:bodyPr/>
          <a:lstStyle/>
          <a:p>
            <a:pPr algn="ctr"/>
            <a:r>
              <a:rPr lang="en-US" b="1" i="1" dirty="0"/>
              <a:t>REGION</a:t>
            </a:r>
          </a:p>
        </p:txBody>
      </p:sp>
      <p:sp>
        <p:nvSpPr>
          <p:cNvPr id="3" name="Content Placeholder 2">
            <a:extLst>
              <a:ext uri="{FF2B5EF4-FFF2-40B4-BE49-F238E27FC236}">
                <a16:creationId xmlns:a16="http://schemas.microsoft.com/office/drawing/2014/main" id="{12EBC57E-0D40-E1AF-E413-BDE5C61293D9}"/>
              </a:ext>
            </a:extLst>
          </p:cNvPr>
          <p:cNvSpPr>
            <a:spLocks noGrp="1"/>
          </p:cNvSpPr>
          <p:nvPr>
            <p:ph idx="1"/>
          </p:nvPr>
        </p:nvSpPr>
        <p:spPr/>
        <p:txBody>
          <a:bodyPr>
            <a:normAutofit/>
          </a:bodyPr>
          <a:lstStyle/>
          <a:p>
            <a:pPr marL="0" indent="0" algn="ctr">
              <a:buNone/>
            </a:pPr>
            <a:r>
              <a:rPr lang="en-US" sz="3600" i="1" spc="0" dirty="0">
                <a:ea typeface="Calibri" panose="020F0502020204030204" pitchFamily="34" charset="0"/>
                <a:cs typeface="Calibri" panose="020F0502020204030204" pitchFamily="34" charset="0"/>
              </a:rPr>
              <a:t>Very important. Make sure to give </a:t>
            </a:r>
            <a:r>
              <a:rPr lang="en-US" sz="3600" b="1" i="1" spc="0" dirty="0">
                <a:ea typeface="Calibri" panose="020F0502020204030204" pitchFamily="34" charset="0"/>
                <a:cs typeface="Calibri" panose="020F0502020204030204" pitchFamily="34" charset="0"/>
              </a:rPr>
              <a:t>N. Virginia </a:t>
            </a:r>
            <a:r>
              <a:rPr lang="en-US" sz="3600" i="1" spc="0" dirty="0">
                <a:ea typeface="Calibri" panose="020F0502020204030204" pitchFamily="34" charset="0"/>
                <a:cs typeface="Calibri" panose="020F0502020204030204" pitchFamily="34" charset="0"/>
              </a:rPr>
              <a:t>as the current region which is on the top right.</a:t>
            </a:r>
          </a:p>
        </p:txBody>
      </p:sp>
    </p:spTree>
    <p:extLst>
      <p:ext uri="{BB962C8B-B14F-4D97-AF65-F5344CB8AC3E}">
        <p14:creationId xmlns:p14="http://schemas.microsoft.com/office/powerpoint/2010/main" val="3859768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0" name="Group 42">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71" name="Rectangle 43">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2" name="Oval 44">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3" name="Oval 45">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47" name="Group 46">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74" name="Rectangle 48">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5" name="Rectangle 49">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76" name="Rectangle 47">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77" name="Rectangle 51">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78" name="Rectangle 53">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55">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80" name="Rectangle 56">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57">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58">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0" name="Group 59">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83" name="Rectangle 64">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5">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85" name="Rectangle 62">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3">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7" name="Rectangle 61">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Rectangle 67">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2A5D7FB-103F-8F64-3303-ECB41E6C9C9A}"/>
              </a:ext>
            </a:extLst>
          </p:cNvPr>
          <p:cNvSpPr>
            <a:spLocks noGrp="1"/>
          </p:cNvSpPr>
          <p:nvPr>
            <p:ph type="title"/>
          </p:nvPr>
        </p:nvSpPr>
        <p:spPr>
          <a:xfrm>
            <a:off x="550863" y="540000"/>
            <a:ext cx="4500561" cy="1953501"/>
          </a:xfrm>
        </p:spPr>
        <p:txBody>
          <a:bodyPr vert="horz" lIns="91440" tIns="45720" rIns="91440" bIns="45720" rtlCol="0" anchor="t">
            <a:normAutofit/>
          </a:bodyPr>
          <a:lstStyle/>
          <a:p>
            <a:r>
              <a:rPr lang="en-US" sz="4200" b="1" i="1" dirty="0"/>
              <a:t>Setting up env in </a:t>
            </a:r>
            <a:r>
              <a:rPr lang="en-US" sz="4200" b="1" i="1" dirty="0" err="1"/>
              <a:t>VSCode</a:t>
            </a:r>
            <a:r>
              <a:rPr lang="en-US" sz="4200" b="1" i="1" dirty="0"/>
              <a:t> and </a:t>
            </a:r>
            <a:r>
              <a:rPr lang="en-US" sz="4200" b="1" i="1" dirty="0" err="1"/>
              <a:t>Github</a:t>
            </a:r>
            <a:endParaRPr lang="en-US" sz="4200" b="1" i="1" dirty="0"/>
          </a:p>
        </p:txBody>
      </p:sp>
      <p:sp>
        <p:nvSpPr>
          <p:cNvPr id="4" name="Text Placeholder 3">
            <a:extLst>
              <a:ext uri="{FF2B5EF4-FFF2-40B4-BE49-F238E27FC236}">
                <a16:creationId xmlns:a16="http://schemas.microsoft.com/office/drawing/2014/main" id="{6026F930-6AC3-7D3E-4A4C-07D6F87E5E41}"/>
              </a:ext>
            </a:extLst>
          </p:cNvPr>
          <p:cNvSpPr>
            <a:spLocks noGrp="1"/>
          </p:cNvSpPr>
          <p:nvPr>
            <p:ph type="body" sz="half" idx="2"/>
          </p:nvPr>
        </p:nvSpPr>
        <p:spPr>
          <a:xfrm>
            <a:off x="5232400" y="540000"/>
            <a:ext cx="6408738" cy="1791847"/>
          </a:xfrm>
        </p:spPr>
        <p:txBody>
          <a:bodyPr vert="horz" lIns="91440" tIns="45720" rIns="91440" bIns="45720" rtlCol="0" anchor="t">
            <a:normAutofit/>
          </a:bodyPr>
          <a:lstStyle/>
          <a:p>
            <a:pPr indent="-270000">
              <a:lnSpc>
                <a:spcPct val="115000"/>
              </a:lnSpc>
              <a:buFont typeface="Arial" panose="020B0604020202020204" pitchFamily="34" charset="0"/>
              <a:buChar char="•"/>
            </a:pPr>
            <a:r>
              <a:rPr lang="en-US" sz="1400" i="1" cap="none" spc="50" dirty="0"/>
              <a:t>We first have to add UI and API code to </a:t>
            </a:r>
            <a:r>
              <a:rPr lang="en-US" sz="1400" i="1" cap="none" spc="50" dirty="0" err="1"/>
              <a:t>github</a:t>
            </a:r>
            <a:r>
              <a:rPr lang="en-US" sz="1400" i="1" cap="none" spc="50" dirty="0"/>
              <a:t> via </a:t>
            </a:r>
            <a:r>
              <a:rPr lang="en-US" sz="1400" i="1" cap="none" spc="50" dirty="0" err="1"/>
              <a:t>VSCode</a:t>
            </a:r>
            <a:r>
              <a:rPr lang="en-US" sz="1400" i="1" cap="none" spc="50" dirty="0"/>
              <a:t>. Using below commands which are separated by semicolons.</a:t>
            </a:r>
          </a:p>
          <a:p>
            <a:pPr indent="-270000">
              <a:lnSpc>
                <a:spcPct val="115000"/>
              </a:lnSpc>
              <a:buFont typeface="Arial" panose="020B0604020202020204" pitchFamily="34" charset="0"/>
              <a:buChar char="•"/>
            </a:pPr>
            <a:r>
              <a:rPr lang="en-US" sz="1400" i="1" cap="none" spc="50" dirty="0"/>
              <a:t>Git </a:t>
            </a:r>
            <a:r>
              <a:rPr lang="en-US" sz="1400" i="1" cap="none" spc="50" dirty="0" err="1"/>
              <a:t>init</a:t>
            </a:r>
            <a:r>
              <a:rPr lang="en-US" sz="1400" i="1" cap="none" spc="50" dirty="0"/>
              <a:t>; git add .; git commit –m “commit msg”; git remote add origin “</a:t>
            </a:r>
            <a:r>
              <a:rPr lang="en-US" sz="1400" i="1" cap="none" spc="50" dirty="0" err="1"/>
              <a:t>give_youre_repository_link</a:t>
            </a:r>
            <a:r>
              <a:rPr lang="en-US" sz="1400" i="1" cap="none" spc="50" dirty="0"/>
              <a:t>"; git push --set-upstream origin master; </a:t>
            </a:r>
          </a:p>
          <a:p>
            <a:pPr indent="-270000">
              <a:lnSpc>
                <a:spcPct val="115000"/>
              </a:lnSpc>
              <a:buFont typeface="Arial" panose="020B0604020202020204" pitchFamily="34" charset="0"/>
              <a:buChar char="•"/>
            </a:pPr>
            <a:r>
              <a:rPr lang="en-US" sz="1400" i="1" cap="none" spc="50" dirty="0"/>
              <a:t>The above commands will push the content UI, API to </a:t>
            </a:r>
            <a:r>
              <a:rPr lang="en-US" sz="1400" i="1" cap="none" spc="50" dirty="0" err="1"/>
              <a:t>github</a:t>
            </a:r>
            <a:r>
              <a:rPr lang="en-US" sz="1400" i="1" cap="none" spc="50" dirty="0"/>
              <a:t>.</a:t>
            </a:r>
          </a:p>
        </p:txBody>
      </p:sp>
      <p:pic>
        <p:nvPicPr>
          <p:cNvPr id="8" name="Picture Placeholder 7">
            <a:extLst>
              <a:ext uri="{FF2B5EF4-FFF2-40B4-BE49-F238E27FC236}">
                <a16:creationId xmlns:a16="http://schemas.microsoft.com/office/drawing/2014/main" id="{CF16F6EF-C09E-62EE-E26D-B52F1773729A}"/>
              </a:ext>
            </a:extLst>
          </p:cNvPr>
          <p:cNvPicPr>
            <a:picLocks noGrp="1" noChangeAspect="1"/>
          </p:cNvPicPr>
          <p:nvPr>
            <p:ph type="pic" idx="1"/>
          </p:nvPr>
        </p:nvPicPr>
        <p:blipFill rotWithShape="1">
          <a:blip r:embed="rId2"/>
          <a:srcRect l="18655" r="18655"/>
          <a:stretch/>
        </p:blipFill>
        <p:spPr>
          <a:xfrm>
            <a:off x="1350375" y="2871847"/>
            <a:ext cx="3839817" cy="3445362"/>
          </a:xfrm>
          <a:prstGeom prst="rect">
            <a:avLst/>
          </a:prstGeom>
        </p:spPr>
      </p:pic>
      <p:pic>
        <p:nvPicPr>
          <p:cNvPr id="6" name="Picture 5">
            <a:extLst>
              <a:ext uri="{FF2B5EF4-FFF2-40B4-BE49-F238E27FC236}">
                <a16:creationId xmlns:a16="http://schemas.microsoft.com/office/drawing/2014/main" id="{7B347A56-88F3-DD92-62FA-81FC61431318}"/>
              </a:ext>
            </a:extLst>
          </p:cNvPr>
          <p:cNvPicPr>
            <a:picLocks noChangeAspect="1"/>
          </p:cNvPicPr>
          <p:nvPr/>
        </p:nvPicPr>
        <p:blipFill>
          <a:blip r:embed="rId3"/>
          <a:stretch>
            <a:fillRect/>
          </a:stretch>
        </p:blipFill>
        <p:spPr>
          <a:xfrm>
            <a:off x="6180567" y="3188432"/>
            <a:ext cx="5460568" cy="2812192"/>
          </a:xfrm>
          <a:prstGeom prst="rect">
            <a:avLst/>
          </a:prstGeom>
        </p:spPr>
      </p:pic>
    </p:spTree>
    <p:extLst>
      <p:ext uri="{BB962C8B-B14F-4D97-AF65-F5344CB8AC3E}">
        <p14:creationId xmlns:p14="http://schemas.microsoft.com/office/powerpoint/2010/main" val="2312480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42" name="Rectangle 4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3" name="Oval 4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4" name="Oval 4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45" name="Group 4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47" name="Rectangle 4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8" name="Rectangle 4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46" name="Rectangle 4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0" name="Rectangle 4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52" name="Rectangle 51">
            <a:extLst>
              <a:ext uri="{FF2B5EF4-FFF2-40B4-BE49-F238E27FC236}">
                <a16:creationId xmlns:a16="http://schemas.microsoft.com/office/drawing/2014/main" id="{DD98E61A-E482-4DCD-B615-A18B8685C2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55" name="Rectangle 54">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63" name="Rectangle 62">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61" name="Rectangle 60">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86DC52B2-536D-147C-234C-FC513A061EA4}"/>
              </a:ext>
            </a:extLst>
          </p:cNvPr>
          <p:cNvSpPr>
            <a:spLocks noGrp="1"/>
          </p:cNvSpPr>
          <p:nvPr>
            <p:ph type="title"/>
          </p:nvPr>
        </p:nvSpPr>
        <p:spPr>
          <a:xfrm>
            <a:off x="7086315" y="545126"/>
            <a:ext cx="4554821" cy="2186096"/>
          </a:xfrm>
        </p:spPr>
        <p:txBody>
          <a:bodyPr vert="horz" lIns="91440" tIns="45720" rIns="91440" bIns="45720" rtlCol="0" anchor="t">
            <a:normAutofit/>
          </a:bodyPr>
          <a:lstStyle/>
          <a:p>
            <a:r>
              <a:rPr lang="en-US" sz="5600" b="1" i="1"/>
              <a:t>Creating an EC2 Instance</a:t>
            </a:r>
          </a:p>
        </p:txBody>
      </p:sp>
      <p:pic>
        <p:nvPicPr>
          <p:cNvPr id="6" name="Picture 5">
            <a:extLst>
              <a:ext uri="{FF2B5EF4-FFF2-40B4-BE49-F238E27FC236}">
                <a16:creationId xmlns:a16="http://schemas.microsoft.com/office/drawing/2014/main" id="{3E70B085-02DF-2FF7-12F9-622A36322B25}"/>
              </a:ext>
            </a:extLst>
          </p:cNvPr>
          <p:cNvPicPr>
            <a:picLocks noChangeAspect="1"/>
          </p:cNvPicPr>
          <p:nvPr/>
        </p:nvPicPr>
        <p:blipFill>
          <a:blip r:embed="rId2"/>
          <a:stretch>
            <a:fillRect/>
          </a:stretch>
        </p:blipFill>
        <p:spPr>
          <a:xfrm>
            <a:off x="867733" y="549274"/>
            <a:ext cx="5394249" cy="2791525"/>
          </a:xfrm>
          <a:prstGeom prst="rect">
            <a:avLst/>
          </a:prstGeom>
        </p:spPr>
      </p:pic>
      <p:pic>
        <p:nvPicPr>
          <p:cNvPr id="8" name="Picture 7">
            <a:extLst>
              <a:ext uri="{FF2B5EF4-FFF2-40B4-BE49-F238E27FC236}">
                <a16:creationId xmlns:a16="http://schemas.microsoft.com/office/drawing/2014/main" id="{5CCF218F-50A3-DC84-0CDA-2237CE37DFDC}"/>
              </a:ext>
            </a:extLst>
          </p:cNvPr>
          <p:cNvPicPr>
            <a:picLocks noChangeAspect="1"/>
          </p:cNvPicPr>
          <p:nvPr/>
        </p:nvPicPr>
        <p:blipFill>
          <a:blip r:embed="rId3"/>
          <a:stretch>
            <a:fillRect/>
          </a:stretch>
        </p:blipFill>
        <p:spPr>
          <a:xfrm>
            <a:off x="858134" y="3520800"/>
            <a:ext cx="5413446" cy="2787925"/>
          </a:xfrm>
          <a:prstGeom prst="rect">
            <a:avLst/>
          </a:prstGeom>
        </p:spPr>
      </p:pic>
      <p:sp>
        <p:nvSpPr>
          <p:cNvPr id="4" name="Text Placeholder 3">
            <a:extLst>
              <a:ext uri="{FF2B5EF4-FFF2-40B4-BE49-F238E27FC236}">
                <a16:creationId xmlns:a16="http://schemas.microsoft.com/office/drawing/2014/main" id="{EF7BA971-E444-8582-D35E-BD6C100D50A0}"/>
              </a:ext>
            </a:extLst>
          </p:cNvPr>
          <p:cNvSpPr>
            <a:spLocks noGrp="1"/>
          </p:cNvSpPr>
          <p:nvPr>
            <p:ph type="body" sz="half" idx="2"/>
          </p:nvPr>
        </p:nvSpPr>
        <p:spPr>
          <a:xfrm>
            <a:off x="7071122" y="2463698"/>
            <a:ext cx="4537073" cy="3773199"/>
          </a:xfrm>
        </p:spPr>
        <p:txBody>
          <a:bodyPr vert="horz" lIns="91440" tIns="45720" rIns="91440" bIns="45720" rtlCol="0" anchor="t">
            <a:normAutofit/>
          </a:bodyPr>
          <a:lstStyle/>
          <a:p>
            <a:pPr indent="-270000">
              <a:lnSpc>
                <a:spcPct val="115000"/>
              </a:lnSpc>
              <a:buFont typeface="Arial" panose="020B0604020202020204" pitchFamily="34" charset="0"/>
              <a:buChar char="•"/>
            </a:pPr>
            <a:r>
              <a:rPr lang="en-US" sz="1400" i="1" cap="none" spc="50" dirty="0"/>
              <a:t>For creating instance follow below steps:</a:t>
            </a:r>
          </a:p>
          <a:p>
            <a:pPr marL="342900" indent="-270000">
              <a:lnSpc>
                <a:spcPct val="115000"/>
              </a:lnSpc>
              <a:buFont typeface="Arial" panose="020B0604020202020204" pitchFamily="34" charset="0"/>
              <a:buChar char="•"/>
            </a:pPr>
            <a:r>
              <a:rPr lang="en-US" sz="1400" i="1" cap="none" spc="50" dirty="0"/>
              <a:t>Login and open EC2 and click on “Launch instance”.</a:t>
            </a:r>
          </a:p>
          <a:p>
            <a:pPr marL="342900" indent="-270000">
              <a:lnSpc>
                <a:spcPct val="115000"/>
              </a:lnSpc>
              <a:buFont typeface="Arial" panose="020B0604020202020204" pitchFamily="34" charset="0"/>
              <a:buChar char="•"/>
            </a:pPr>
            <a:r>
              <a:rPr lang="en-US" sz="1400" i="1" cap="none" spc="50" dirty="0"/>
              <a:t>Give a name to your instance and select ubuntu under quick start.</a:t>
            </a:r>
          </a:p>
          <a:p>
            <a:pPr marL="342900" indent="-270000">
              <a:lnSpc>
                <a:spcPct val="115000"/>
              </a:lnSpc>
              <a:buFont typeface="Arial" panose="020B0604020202020204" pitchFamily="34" charset="0"/>
              <a:buChar char="•"/>
            </a:pPr>
            <a:r>
              <a:rPr lang="en-US" sz="1400" i="1" cap="none" spc="50" dirty="0"/>
              <a:t>Under instance type click on t2.medium and create a new key pair with .</a:t>
            </a:r>
            <a:r>
              <a:rPr lang="en-US" sz="1400" i="1" cap="none" spc="50" dirty="0" err="1"/>
              <a:t>pem</a:t>
            </a:r>
            <a:r>
              <a:rPr lang="en-US" sz="1400" i="1" cap="none" spc="50" dirty="0"/>
              <a:t> extension and download it to your local. </a:t>
            </a:r>
          </a:p>
          <a:p>
            <a:pPr marL="342900" indent="-270000">
              <a:lnSpc>
                <a:spcPct val="115000"/>
              </a:lnSpc>
              <a:buFont typeface="Arial" panose="020B0604020202020204" pitchFamily="34" charset="0"/>
              <a:buChar char="•"/>
            </a:pPr>
            <a:r>
              <a:rPr lang="en-US" sz="1400" i="1" cap="none" spc="50" dirty="0"/>
              <a:t>Under network settings click on create new security group and leave everything as default.</a:t>
            </a:r>
          </a:p>
          <a:p>
            <a:pPr marL="342900" indent="-270000">
              <a:lnSpc>
                <a:spcPct val="115000"/>
              </a:lnSpc>
              <a:buFont typeface="Arial" panose="020B0604020202020204" pitchFamily="34" charset="0"/>
              <a:buChar char="•"/>
            </a:pPr>
            <a:r>
              <a:rPr lang="en-US" sz="1400" i="1" cap="none" spc="50" dirty="0"/>
              <a:t>Wait for it and connect to the instance.</a:t>
            </a:r>
          </a:p>
          <a:p>
            <a:pPr marL="342900" indent="-270000">
              <a:lnSpc>
                <a:spcPct val="115000"/>
              </a:lnSpc>
              <a:buFont typeface="Arial" panose="020B0604020202020204" pitchFamily="34" charset="0"/>
              <a:buChar char="•"/>
            </a:pPr>
            <a:endParaRPr lang="en-US" sz="1400" i="1" cap="none" spc="50" dirty="0"/>
          </a:p>
        </p:txBody>
      </p:sp>
    </p:spTree>
    <p:extLst>
      <p:ext uri="{BB962C8B-B14F-4D97-AF65-F5344CB8AC3E}">
        <p14:creationId xmlns:p14="http://schemas.microsoft.com/office/powerpoint/2010/main" val="171498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5" name="Group 4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67" name="Rectangle 4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8" name="Oval 4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9" name="Oval 4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45" name="Group 4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70" name="Rectangle 4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1" name="Rectangle 4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72" name="Rectangle 4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73" name="Rectangle 4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74" name="Rectangle 51">
            <a:extLst>
              <a:ext uri="{FF2B5EF4-FFF2-40B4-BE49-F238E27FC236}">
                <a16:creationId xmlns:a16="http://schemas.microsoft.com/office/drawing/2014/main" id="{A37F6730-8F76-4239-8CBA-B914B02A7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DE11E5CC-3C1F-4093-97B6-6433FBF9A9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55" name="Rectangle 54">
              <a:extLst>
                <a:ext uri="{FF2B5EF4-FFF2-40B4-BE49-F238E27FC236}">
                  <a16:creationId xmlns:a16="http://schemas.microsoft.com/office/drawing/2014/main" id="{28D720AE-B07F-482D-B526-4A9C632DA7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76F0BCA-E2AA-4AED-9091-1E820FF25B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71D2B33-982E-4EC0-9252-B8A7383C96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9250D86D-299E-4837-B82C-B97DACC975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63" name="Rectangle 62">
                <a:extLst>
                  <a:ext uri="{FF2B5EF4-FFF2-40B4-BE49-F238E27FC236}">
                    <a16:creationId xmlns:a16="http://schemas.microsoft.com/office/drawing/2014/main" id="{F74EFAF9-4DE5-4C1F-BF17-0A5930FFF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A857D782-AB09-4CB1-A94A-54F935E70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94E95A3B-E29B-40AA-B9DD-FF0BA512FD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61" name="Rectangle 60">
                <a:extLst>
                  <a:ext uri="{FF2B5EF4-FFF2-40B4-BE49-F238E27FC236}">
                    <a16:creationId xmlns:a16="http://schemas.microsoft.com/office/drawing/2014/main" id="{1A71F79C-8170-4729-A592-753969B849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AE5C556-02CA-4512-9F5F-7088484CF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B75FD132-C2ED-4807-B2DA-D428F9C449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71967F12-B0C4-4D31-8D63-89945DCD2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1A2FD616-123E-E08D-3F11-ACE8E2335846}"/>
              </a:ext>
            </a:extLst>
          </p:cNvPr>
          <p:cNvSpPr>
            <a:spLocks noGrp="1"/>
          </p:cNvSpPr>
          <p:nvPr>
            <p:ph type="title"/>
          </p:nvPr>
        </p:nvSpPr>
        <p:spPr>
          <a:xfrm>
            <a:off x="550863" y="4136400"/>
            <a:ext cx="4500561" cy="2181946"/>
          </a:xfrm>
        </p:spPr>
        <p:txBody>
          <a:bodyPr vert="horz" lIns="91440" tIns="45720" rIns="91440" bIns="45720" rtlCol="0" anchor="b">
            <a:normAutofit fontScale="90000"/>
          </a:bodyPr>
          <a:lstStyle/>
          <a:p>
            <a:r>
              <a:rPr lang="en-US" b="1" i="1" dirty="0"/>
              <a:t>Creating an RDS database</a:t>
            </a:r>
          </a:p>
        </p:txBody>
      </p:sp>
      <p:sp>
        <p:nvSpPr>
          <p:cNvPr id="4" name="Text Placeholder 3">
            <a:extLst>
              <a:ext uri="{FF2B5EF4-FFF2-40B4-BE49-F238E27FC236}">
                <a16:creationId xmlns:a16="http://schemas.microsoft.com/office/drawing/2014/main" id="{10F8F023-546A-4965-7FB7-409FE38E0EC3}"/>
              </a:ext>
            </a:extLst>
          </p:cNvPr>
          <p:cNvSpPr>
            <a:spLocks noGrp="1"/>
          </p:cNvSpPr>
          <p:nvPr>
            <p:ph type="body" sz="half" idx="2"/>
          </p:nvPr>
        </p:nvSpPr>
        <p:spPr>
          <a:xfrm>
            <a:off x="540000" y="540000"/>
            <a:ext cx="4500562" cy="4023374"/>
          </a:xfrm>
        </p:spPr>
        <p:txBody>
          <a:bodyPr vert="horz" lIns="91440" tIns="45720" rIns="91440" bIns="45720" rtlCol="0" anchor="t">
            <a:normAutofit/>
          </a:bodyPr>
          <a:lstStyle/>
          <a:p>
            <a:pPr indent="-270000">
              <a:lnSpc>
                <a:spcPct val="115000"/>
              </a:lnSpc>
              <a:buFont typeface="Arial" panose="020B0604020202020204" pitchFamily="34" charset="0"/>
              <a:buChar char="•"/>
            </a:pPr>
            <a:r>
              <a:rPr lang="en-US" sz="1400" i="1" cap="none" spc="50" dirty="0"/>
              <a:t>Follow below steps for creating an RDS database:</a:t>
            </a:r>
          </a:p>
          <a:p>
            <a:pPr marL="342900" indent="-270000">
              <a:lnSpc>
                <a:spcPct val="115000"/>
              </a:lnSpc>
              <a:buFont typeface="Arial" panose="020B0604020202020204" pitchFamily="34" charset="0"/>
              <a:buChar char="•"/>
            </a:pPr>
            <a:r>
              <a:rPr lang="en-US" sz="1400" i="1" cap="none" spc="50" dirty="0"/>
              <a:t>Click on create database.</a:t>
            </a:r>
          </a:p>
          <a:p>
            <a:pPr marL="342900" indent="-270000">
              <a:lnSpc>
                <a:spcPct val="115000"/>
              </a:lnSpc>
              <a:buFont typeface="Arial" panose="020B0604020202020204" pitchFamily="34" charset="0"/>
              <a:buChar char="•"/>
            </a:pPr>
            <a:r>
              <a:rPr lang="en-US" sz="1400" i="1" cap="none" spc="50" dirty="0"/>
              <a:t>Select MySQL under engine type and select free tier.</a:t>
            </a:r>
          </a:p>
          <a:p>
            <a:pPr marL="342900" indent="-270000">
              <a:lnSpc>
                <a:spcPct val="115000"/>
              </a:lnSpc>
              <a:buFont typeface="Arial" panose="020B0604020202020204" pitchFamily="34" charset="0"/>
              <a:buChar char="•"/>
            </a:pPr>
            <a:r>
              <a:rPr lang="en-US" sz="1400" i="1" cap="none" spc="50" dirty="0"/>
              <a:t>Under settings give your DB name.</a:t>
            </a:r>
          </a:p>
          <a:p>
            <a:pPr marL="342900" indent="-270000">
              <a:lnSpc>
                <a:spcPct val="115000"/>
              </a:lnSpc>
              <a:buFont typeface="Arial" panose="020B0604020202020204" pitchFamily="34" charset="0"/>
              <a:buChar char="•"/>
            </a:pPr>
            <a:r>
              <a:rPr lang="en-US" sz="1400" i="1" cap="none" spc="50" dirty="0"/>
              <a:t>Under credentials give a strong username and password.</a:t>
            </a:r>
          </a:p>
          <a:p>
            <a:pPr marL="342900" indent="-270000">
              <a:lnSpc>
                <a:spcPct val="115000"/>
              </a:lnSpc>
              <a:buFont typeface="Arial" panose="020B0604020202020204" pitchFamily="34" charset="0"/>
              <a:buChar char="•"/>
            </a:pPr>
            <a:r>
              <a:rPr lang="en-US" sz="1400" i="1" cap="none" spc="50" dirty="0"/>
              <a:t>Give the instance configuration as db.t3.micro and opt yes for public access.</a:t>
            </a:r>
          </a:p>
          <a:p>
            <a:pPr marL="342900" indent="-270000">
              <a:lnSpc>
                <a:spcPct val="115000"/>
              </a:lnSpc>
              <a:buFont typeface="Arial" panose="020B0604020202020204" pitchFamily="34" charset="0"/>
              <a:buChar char="•"/>
            </a:pPr>
            <a:r>
              <a:rPr lang="en-US" sz="1400" i="1" cap="none" spc="50" dirty="0"/>
              <a:t>Under storage give 20GB of storage and turn off the backup under additional settings.</a:t>
            </a:r>
          </a:p>
          <a:p>
            <a:pPr marL="342900" indent="-270000">
              <a:lnSpc>
                <a:spcPct val="115000"/>
              </a:lnSpc>
              <a:buFont typeface="Arial" panose="020B0604020202020204" pitchFamily="34" charset="0"/>
              <a:buChar char="•"/>
            </a:pPr>
            <a:endParaRPr lang="en-US" sz="1400" i="1" cap="none" spc="50" dirty="0"/>
          </a:p>
        </p:txBody>
      </p:sp>
      <p:pic>
        <p:nvPicPr>
          <p:cNvPr id="8" name="Picture 7">
            <a:extLst>
              <a:ext uri="{FF2B5EF4-FFF2-40B4-BE49-F238E27FC236}">
                <a16:creationId xmlns:a16="http://schemas.microsoft.com/office/drawing/2014/main" id="{1A8C8B22-E693-59CA-2DB4-D238C93B395E}"/>
              </a:ext>
            </a:extLst>
          </p:cNvPr>
          <p:cNvPicPr>
            <a:picLocks noChangeAspect="1"/>
          </p:cNvPicPr>
          <p:nvPr/>
        </p:nvPicPr>
        <p:blipFill>
          <a:blip r:embed="rId2"/>
          <a:stretch>
            <a:fillRect/>
          </a:stretch>
        </p:blipFill>
        <p:spPr>
          <a:xfrm>
            <a:off x="5930019" y="549274"/>
            <a:ext cx="5394249" cy="2791525"/>
          </a:xfrm>
          <a:prstGeom prst="rect">
            <a:avLst/>
          </a:prstGeom>
        </p:spPr>
      </p:pic>
      <p:pic>
        <p:nvPicPr>
          <p:cNvPr id="6" name="Picture 5">
            <a:extLst>
              <a:ext uri="{FF2B5EF4-FFF2-40B4-BE49-F238E27FC236}">
                <a16:creationId xmlns:a16="http://schemas.microsoft.com/office/drawing/2014/main" id="{A7031551-06F1-971E-07CB-6305BB32DBFD}"/>
              </a:ext>
            </a:extLst>
          </p:cNvPr>
          <p:cNvPicPr>
            <a:picLocks noChangeAspect="1"/>
          </p:cNvPicPr>
          <p:nvPr/>
        </p:nvPicPr>
        <p:blipFill>
          <a:blip r:embed="rId3"/>
          <a:stretch>
            <a:fillRect/>
          </a:stretch>
        </p:blipFill>
        <p:spPr>
          <a:xfrm>
            <a:off x="5933497" y="3520800"/>
            <a:ext cx="5387293" cy="2787925"/>
          </a:xfrm>
          <a:prstGeom prst="rect">
            <a:avLst/>
          </a:prstGeom>
        </p:spPr>
      </p:pic>
    </p:spTree>
    <p:extLst>
      <p:ext uri="{BB962C8B-B14F-4D97-AF65-F5344CB8AC3E}">
        <p14:creationId xmlns:p14="http://schemas.microsoft.com/office/powerpoint/2010/main" val="3666627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1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39" name="Rectangle 1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0" name="Oval 1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1" name="Oval 1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5" name="Group 1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42" name="Rectangle 1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3" name="Rectangle 1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44" name="Rectangle 1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45" name="Rectangle 1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46" name="Rectangle 21">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23">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48" name="Rectangle 24">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25">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26">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51" name="Rectangle 32">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33">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53" name="Rectangle 30">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31">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Rectangle 29">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35">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A0073DF-F5CD-7DF1-FC03-48B226CDDE14}"/>
              </a:ext>
            </a:extLst>
          </p:cNvPr>
          <p:cNvSpPr>
            <a:spLocks noGrp="1"/>
          </p:cNvSpPr>
          <p:nvPr>
            <p:ph type="title"/>
          </p:nvPr>
        </p:nvSpPr>
        <p:spPr>
          <a:xfrm>
            <a:off x="540000" y="540000"/>
            <a:ext cx="4500561" cy="1953501"/>
          </a:xfrm>
        </p:spPr>
        <p:txBody>
          <a:bodyPr vert="horz" lIns="91440" tIns="45720" rIns="91440" bIns="45720" rtlCol="0" anchor="t">
            <a:normAutofit fontScale="90000"/>
          </a:bodyPr>
          <a:lstStyle/>
          <a:p>
            <a:r>
              <a:rPr lang="en-US" b="1" i="1" dirty="0"/>
              <a:t>Security groups in EC2</a:t>
            </a:r>
          </a:p>
        </p:txBody>
      </p:sp>
      <p:sp>
        <p:nvSpPr>
          <p:cNvPr id="4" name="Text Placeholder 3">
            <a:extLst>
              <a:ext uri="{FF2B5EF4-FFF2-40B4-BE49-F238E27FC236}">
                <a16:creationId xmlns:a16="http://schemas.microsoft.com/office/drawing/2014/main" id="{294B92FE-4206-3175-90BF-A1E6C93BF7FD}"/>
              </a:ext>
            </a:extLst>
          </p:cNvPr>
          <p:cNvSpPr>
            <a:spLocks noGrp="1"/>
          </p:cNvSpPr>
          <p:nvPr>
            <p:ph type="body" sz="half" idx="2"/>
          </p:nvPr>
        </p:nvSpPr>
        <p:spPr>
          <a:xfrm>
            <a:off x="5232400" y="540000"/>
            <a:ext cx="6408738" cy="1998000"/>
          </a:xfrm>
        </p:spPr>
        <p:txBody>
          <a:bodyPr vert="horz" lIns="91440" tIns="45720" rIns="91440" bIns="45720" rtlCol="0" anchor="t">
            <a:normAutofit/>
          </a:bodyPr>
          <a:lstStyle/>
          <a:p>
            <a:pPr indent="-270000">
              <a:buFont typeface="Arial" panose="020B0604020202020204" pitchFamily="34" charset="0"/>
              <a:buChar char="•"/>
            </a:pPr>
            <a:r>
              <a:rPr lang="en-US" sz="1800" i="1" cap="none" spc="50"/>
              <a:t>Follow the images and give the security bounds as it is in both inbound and outbound rules.</a:t>
            </a:r>
          </a:p>
          <a:p>
            <a:pPr indent="-270000">
              <a:buFont typeface="Arial" panose="020B0604020202020204" pitchFamily="34" charset="0"/>
              <a:buChar char="•"/>
            </a:pPr>
            <a:r>
              <a:rPr lang="en-US" sz="1800" i="1" cap="none" spc="50"/>
              <a:t>One of which is to connect the EC2 instance to RDS and the others are to enable running the public IPS accessing from UI to API and vise-versa.</a:t>
            </a:r>
          </a:p>
        </p:txBody>
      </p:sp>
      <p:pic>
        <p:nvPicPr>
          <p:cNvPr id="6" name="Picture 5" descr="A screenshot of a computer&#10;&#10;Description automatically generated">
            <a:extLst>
              <a:ext uri="{FF2B5EF4-FFF2-40B4-BE49-F238E27FC236}">
                <a16:creationId xmlns:a16="http://schemas.microsoft.com/office/drawing/2014/main" id="{555FFCCD-CF8B-22E6-E8C1-09D8173EB30A}"/>
              </a:ext>
            </a:extLst>
          </p:cNvPr>
          <p:cNvPicPr>
            <a:picLocks noChangeAspect="1"/>
          </p:cNvPicPr>
          <p:nvPr/>
        </p:nvPicPr>
        <p:blipFill>
          <a:blip r:embed="rId2">
            <a:alphaModFix/>
          </a:blip>
          <a:stretch>
            <a:fillRect/>
          </a:stretch>
        </p:blipFill>
        <p:spPr>
          <a:xfrm>
            <a:off x="2745555" y="2871846"/>
            <a:ext cx="6690025" cy="3445363"/>
          </a:xfrm>
          <a:prstGeom prst="rect">
            <a:avLst/>
          </a:prstGeom>
        </p:spPr>
      </p:pic>
    </p:spTree>
    <p:extLst>
      <p:ext uri="{BB962C8B-B14F-4D97-AF65-F5344CB8AC3E}">
        <p14:creationId xmlns:p14="http://schemas.microsoft.com/office/powerpoint/2010/main" val="222017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9" name="Group 81">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10" name="Rectangle 82">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1" name="Oval 83">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2" name="Oval 84">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86" name="Group 85">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13" name="Rectangle 87">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4" name="Rectangle 88">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5" name="Rectangle 86">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6" name="Rectangle 90">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117" name="Rectangle 92">
            <a:extLst>
              <a:ext uri="{FF2B5EF4-FFF2-40B4-BE49-F238E27FC236}">
                <a16:creationId xmlns:a16="http://schemas.microsoft.com/office/drawing/2014/main" id="{97F832D9-9E09-40D4-AD67-47851A25D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12B306-C762-6D2D-D189-94223D54E399}"/>
              </a:ext>
            </a:extLst>
          </p:cNvPr>
          <p:cNvSpPr>
            <a:spLocks noGrp="1"/>
          </p:cNvSpPr>
          <p:nvPr>
            <p:ph type="title"/>
          </p:nvPr>
        </p:nvSpPr>
        <p:spPr>
          <a:xfrm>
            <a:off x="540000" y="540000"/>
            <a:ext cx="4500561" cy="1953501"/>
          </a:xfrm>
        </p:spPr>
        <p:txBody>
          <a:bodyPr vert="horz" lIns="91440" tIns="45720" rIns="91440" bIns="45720" rtlCol="0" anchor="t">
            <a:normAutofit/>
          </a:bodyPr>
          <a:lstStyle/>
          <a:p>
            <a:r>
              <a:rPr lang="en-US" sz="4700" b="1" i="1"/>
              <a:t>Setting up env in EC2 instance</a:t>
            </a:r>
          </a:p>
        </p:txBody>
      </p:sp>
      <p:sp>
        <p:nvSpPr>
          <p:cNvPr id="61" name="Text Placeholder 3">
            <a:extLst>
              <a:ext uri="{FF2B5EF4-FFF2-40B4-BE49-F238E27FC236}">
                <a16:creationId xmlns:a16="http://schemas.microsoft.com/office/drawing/2014/main" id="{152DE2AF-A408-D67B-E51A-39BBE68B224B}"/>
              </a:ext>
            </a:extLst>
          </p:cNvPr>
          <p:cNvSpPr>
            <a:spLocks noGrp="1"/>
          </p:cNvSpPr>
          <p:nvPr>
            <p:ph type="body" sz="half" idx="2"/>
          </p:nvPr>
        </p:nvSpPr>
        <p:spPr>
          <a:xfrm>
            <a:off x="5232400" y="540000"/>
            <a:ext cx="6408738" cy="2380145"/>
          </a:xfrm>
        </p:spPr>
        <p:txBody>
          <a:bodyPr vert="horz" lIns="91440" tIns="45720" rIns="91440" bIns="45720" rtlCol="0" anchor="t">
            <a:normAutofit/>
          </a:bodyPr>
          <a:lstStyle/>
          <a:p>
            <a:pPr indent="-270000">
              <a:lnSpc>
                <a:spcPct val="115000"/>
              </a:lnSpc>
              <a:buFont typeface="Arial" panose="020B0604020202020204" pitchFamily="34" charset="0"/>
              <a:buChar char="•"/>
            </a:pPr>
            <a:r>
              <a:rPr lang="en-US" sz="1200" i="1" cap="none" spc="50" dirty="0"/>
              <a:t>Connect to instance as shown in the pictures aside. Use the connect which is beside the instance state and connect to instance via EC2 instance connect.</a:t>
            </a:r>
          </a:p>
          <a:p>
            <a:pPr indent="-270000">
              <a:lnSpc>
                <a:spcPct val="115000"/>
              </a:lnSpc>
              <a:buFont typeface="Arial" panose="020B0604020202020204" pitchFamily="34" charset="0"/>
              <a:buChar char="•"/>
            </a:pPr>
            <a:r>
              <a:rPr lang="en-US" sz="1200" i="1" cap="none" spc="50" dirty="0"/>
              <a:t>Install the below mentioned packages first. I’m separating each command with a semi-colon.</a:t>
            </a:r>
          </a:p>
          <a:p>
            <a:pPr indent="-270000">
              <a:lnSpc>
                <a:spcPct val="115000"/>
              </a:lnSpc>
              <a:buFont typeface="Arial" panose="020B0604020202020204" pitchFamily="34" charset="0"/>
              <a:buChar char="•"/>
            </a:pPr>
            <a:r>
              <a:rPr lang="en-US" sz="1200" i="1" cap="none" spc="50" dirty="0" err="1"/>
              <a:t>sudo</a:t>
            </a:r>
            <a:r>
              <a:rPr lang="en-US" sz="1200" i="1" cap="none" spc="50" dirty="0"/>
              <a:t> </a:t>
            </a:r>
            <a:r>
              <a:rPr lang="en-US" sz="1200" i="1" cap="none" spc="50" dirty="0" err="1"/>
              <a:t>su</a:t>
            </a:r>
            <a:r>
              <a:rPr lang="en-US" sz="1200" i="1" cap="none" spc="50" dirty="0"/>
              <a:t>; </a:t>
            </a:r>
            <a:r>
              <a:rPr lang="en-US" sz="1200" i="1" cap="none" spc="50" dirty="0" err="1"/>
              <a:t>sudo</a:t>
            </a:r>
            <a:r>
              <a:rPr lang="en-US" sz="1200" i="1" cap="none" spc="50" dirty="0"/>
              <a:t> apt-get install python3; </a:t>
            </a:r>
            <a:r>
              <a:rPr lang="en-US" sz="1200" i="1" cap="none" spc="50" dirty="0" err="1"/>
              <a:t>sudo</a:t>
            </a:r>
            <a:r>
              <a:rPr lang="en-US" sz="1200" i="1" cap="none" spc="50" dirty="0"/>
              <a:t> apt-get install python3-pip; </a:t>
            </a:r>
            <a:r>
              <a:rPr lang="en-US" sz="1200" i="1" cap="none" spc="50" dirty="0" err="1"/>
              <a:t>sudo</a:t>
            </a:r>
            <a:r>
              <a:rPr lang="en-US" sz="1200" i="1" cap="none" spc="50" dirty="0"/>
              <a:t> apt-get install </a:t>
            </a:r>
            <a:r>
              <a:rPr lang="en-US" sz="1200" i="1" cap="none" spc="50" dirty="0" err="1"/>
              <a:t>mysql</a:t>
            </a:r>
            <a:r>
              <a:rPr lang="en-US" sz="1200" i="1" cap="none" spc="50" dirty="0"/>
              <a:t>-server; </a:t>
            </a:r>
            <a:r>
              <a:rPr lang="en-US" sz="1200" i="1" cap="none" spc="50" dirty="0" err="1"/>
              <a:t>sudo</a:t>
            </a:r>
            <a:r>
              <a:rPr lang="en-US" sz="1200" i="1" cap="none" spc="50" dirty="0"/>
              <a:t> apt-get install </a:t>
            </a:r>
            <a:r>
              <a:rPr lang="en-US" sz="1200" i="1" cap="none" spc="50" dirty="0" err="1"/>
              <a:t>nodejs</a:t>
            </a:r>
            <a:r>
              <a:rPr lang="en-US" sz="1200" i="1" cap="none" spc="50" dirty="0"/>
              <a:t>; </a:t>
            </a:r>
            <a:r>
              <a:rPr lang="en-US" sz="1200" i="1" cap="none" spc="50" dirty="0" err="1"/>
              <a:t>sudo</a:t>
            </a:r>
            <a:r>
              <a:rPr lang="en-US" sz="1200" i="1" cap="none" spc="50" dirty="0"/>
              <a:t> apt-get install apache2; </a:t>
            </a:r>
            <a:r>
              <a:rPr lang="en-US" sz="1200" i="1" cap="none" spc="50" dirty="0" err="1"/>
              <a:t>sudo</a:t>
            </a:r>
            <a:r>
              <a:rPr lang="en-US" sz="1200" i="1" cap="none" spc="50" dirty="0"/>
              <a:t> apt-get install nginx; </a:t>
            </a:r>
            <a:r>
              <a:rPr lang="en-US" sz="1200" i="1" cap="none" spc="50" dirty="0" err="1"/>
              <a:t>sudo</a:t>
            </a:r>
            <a:r>
              <a:rPr lang="en-US" sz="1200" i="1" cap="none" spc="50" dirty="0"/>
              <a:t> apt-get install python3-json. Under python install: </a:t>
            </a:r>
            <a:r>
              <a:rPr lang="en-US" sz="1200" i="1" cap="none" spc="50" dirty="0" err="1"/>
              <a:t>sudo</a:t>
            </a:r>
            <a:r>
              <a:rPr lang="en-US" sz="1200" i="1" cap="none" spc="50" dirty="0"/>
              <a:t> pip3 install requests </a:t>
            </a:r>
            <a:r>
              <a:rPr lang="en-US" sz="1200" i="1" cap="none" spc="50" dirty="0" err="1"/>
              <a:t>pymysql</a:t>
            </a:r>
            <a:r>
              <a:rPr lang="en-US" sz="1200" i="1" cap="none" spc="50" dirty="0"/>
              <a:t> pandas beautifulsoup4; </a:t>
            </a:r>
            <a:r>
              <a:rPr lang="en-US" sz="1200" i="1" cap="none" spc="50" dirty="0" err="1"/>
              <a:t>sudo</a:t>
            </a:r>
            <a:r>
              <a:rPr lang="en-US" sz="1200" i="1" cap="none" spc="50" dirty="0"/>
              <a:t> apt-get install </a:t>
            </a:r>
            <a:r>
              <a:rPr lang="en-US" sz="1200" i="1" cap="none" spc="50" dirty="0" err="1"/>
              <a:t>npm</a:t>
            </a:r>
            <a:r>
              <a:rPr lang="en-US" sz="1200" i="1" cap="none" spc="50" dirty="0"/>
              <a:t>.</a:t>
            </a:r>
          </a:p>
        </p:txBody>
      </p:sp>
      <p:pic>
        <p:nvPicPr>
          <p:cNvPr id="7" name="Picture 6" descr="A screenshot of a computer&#10;&#10;Description automatically generated">
            <a:extLst>
              <a:ext uri="{FF2B5EF4-FFF2-40B4-BE49-F238E27FC236}">
                <a16:creationId xmlns:a16="http://schemas.microsoft.com/office/drawing/2014/main" id="{D2309AF2-6277-62D3-E72A-C33363D9DD75}"/>
              </a:ext>
            </a:extLst>
          </p:cNvPr>
          <p:cNvPicPr>
            <a:picLocks noChangeAspect="1"/>
          </p:cNvPicPr>
          <p:nvPr/>
        </p:nvPicPr>
        <p:blipFill>
          <a:blip r:embed="rId2"/>
          <a:stretch>
            <a:fillRect/>
          </a:stretch>
        </p:blipFill>
        <p:spPr>
          <a:xfrm>
            <a:off x="540000" y="3188432"/>
            <a:ext cx="5460568" cy="2812192"/>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48821959-B3AC-C888-6082-DE4459425AF6}"/>
              </a:ext>
            </a:extLst>
          </p:cNvPr>
          <p:cNvPicPr>
            <a:picLocks noChangeAspect="1"/>
          </p:cNvPicPr>
          <p:nvPr/>
        </p:nvPicPr>
        <p:blipFill>
          <a:blip r:embed="rId3"/>
          <a:stretch>
            <a:fillRect/>
          </a:stretch>
        </p:blipFill>
        <p:spPr>
          <a:xfrm>
            <a:off x="6180567" y="3188432"/>
            <a:ext cx="5460568" cy="2812192"/>
          </a:xfrm>
          <a:prstGeom prst="rect">
            <a:avLst/>
          </a:prstGeom>
        </p:spPr>
      </p:pic>
    </p:spTree>
    <p:extLst>
      <p:ext uri="{BB962C8B-B14F-4D97-AF65-F5344CB8AC3E}">
        <p14:creationId xmlns:p14="http://schemas.microsoft.com/office/powerpoint/2010/main" val="1971300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9" name="Group 158">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60" name="Rectangle 159">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1" name="Oval 160">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2" name="Oval 161">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63" name="Group 162">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65" name="Rectangle 164">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6" name="Rectangle 165">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4" name="Rectangle 163">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8" name="Rectangle 167">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170" name="Rectangle 169">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2" name="Group 171">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73" name="Rectangle 172">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7" name="Group 175">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81" name="Rectangle 180">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8" name="Group 176">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79" name="Rectangle 178">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8" name="Rectangle 177">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4" name="Rectangle 183">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8BABCB0B-ABA0-BEB0-7662-9170BAAA740D}"/>
              </a:ext>
            </a:extLst>
          </p:cNvPr>
          <p:cNvSpPr>
            <a:spLocks noGrp="1"/>
          </p:cNvSpPr>
          <p:nvPr>
            <p:ph type="title"/>
          </p:nvPr>
        </p:nvSpPr>
        <p:spPr>
          <a:xfrm>
            <a:off x="550863" y="550160"/>
            <a:ext cx="4500561" cy="1953501"/>
          </a:xfrm>
        </p:spPr>
        <p:txBody>
          <a:bodyPr vert="horz" lIns="91440" tIns="45720" rIns="91440" bIns="45720" rtlCol="0" anchor="t">
            <a:normAutofit fontScale="90000"/>
          </a:bodyPr>
          <a:lstStyle/>
          <a:p>
            <a:r>
              <a:rPr lang="en-US" sz="5600" b="1" i="1" dirty="0"/>
              <a:t>Security groups in RDS</a:t>
            </a:r>
          </a:p>
        </p:txBody>
      </p:sp>
      <p:sp>
        <p:nvSpPr>
          <p:cNvPr id="4" name="Text Placeholder 3">
            <a:extLst>
              <a:ext uri="{FF2B5EF4-FFF2-40B4-BE49-F238E27FC236}">
                <a16:creationId xmlns:a16="http://schemas.microsoft.com/office/drawing/2014/main" id="{12F80267-560F-6B51-7414-F8DC9783671E}"/>
              </a:ext>
            </a:extLst>
          </p:cNvPr>
          <p:cNvSpPr>
            <a:spLocks noGrp="1"/>
          </p:cNvSpPr>
          <p:nvPr>
            <p:ph type="body" sz="half" idx="2"/>
          </p:nvPr>
        </p:nvSpPr>
        <p:spPr>
          <a:xfrm>
            <a:off x="5232400" y="540000"/>
            <a:ext cx="6408738" cy="1791847"/>
          </a:xfrm>
        </p:spPr>
        <p:txBody>
          <a:bodyPr vert="horz" lIns="91440" tIns="45720" rIns="91440" bIns="45720" rtlCol="0" anchor="t">
            <a:normAutofit/>
          </a:bodyPr>
          <a:lstStyle/>
          <a:p>
            <a:pPr indent="-270000">
              <a:buFont typeface="Arial" panose="020B0604020202020204" pitchFamily="34" charset="0"/>
              <a:buChar char="•"/>
            </a:pPr>
            <a:r>
              <a:rPr lang="en-US" sz="1800" i="1" cap="none" spc="50"/>
              <a:t>Give the inbound and outbound rules as given in the screenshots below and the EC2 instance and RDS instance will be interlinked with these security groups.</a:t>
            </a:r>
          </a:p>
        </p:txBody>
      </p:sp>
      <p:pic>
        <p:nvPicPr>
          <p:cNvPr id="10" name="Picture 9">
            <a:extLst>
              <a:ext uri="{FF2B5EF4-FFF2-40B4-BE49-F238E27FC236}">
                <a16:creationId xmlns:a16="http://schemas.microsoft.com/office/drawing/2014/main" id="{0C149A31-AA92-3D0A-9678-1F45E984E0A3}"/>
              </a:ext>
            </a:extLst>
          </p:cNvPr>
          <p:cNvPicPr>
            <a:picLocks noChangeAspect="1"/>
          </p:cNvPicPr>
          <p:nvPr/>
        </p:nvPicPr>
        <p:blipFill rotWithShape="1">
          <a:blip r:embed="rId2"/>
          <a:srcRect l="2739" r="-1" b="-1"/>
          <a:stretch/>
        </p:blipFill>
        <p:spPr>
          <a:xfrm>
            <a:off x="540000" y="3141817"/>
            <a:ext cx="5460568" cy="2905421"/>
          </a:xfrm>
          <a:prstGeom prst="rect">
            <a:avLst/>
          </a:prstGeom>
        </p:spPr>
      </p:pic>
      <p:pic>
        <p:nvPicPr>
          <p:cNvPr id="8" name="Picture Placeholder 7">
            <a:extLst>
              <a:ext uri="{FF2B5EF4-FFF2-40B4-BE49-F238E27FC236}">
                <a16:creationId xmlns:a16="http://schemas.microsoft.com/office/drawing/2014/main" id="{6F97AB71-6CB6-AC4F-0E00-51A6AE06CDBD}"/>
              </a:ext>
            </a:extLst>
          </p:cNvPr>
          <p:cNvPicPr>
            <a:picLocks noGrp="1" noChangeAspect="1"/>
          </p:cNvPicPr>
          <p:nvPr>
            <p:ph type="pic" idx="1"/>
          </p:nvPr>
        </p:nvPicPr>
        <p:blipFill rotWithShape="1">
          <a:blip r:embed="rId3"/>
          <a:srcRect l="2799" r="1" b="1"/>
          <a:stretch/>
        </p:blipFill>
        <p:spPr>
          <a:xfrm>
            <a:off x="6180567" y="3140919"/>
            <a:ext cx="5460568" cy="2907217"/>
          </a:xfrm>
          <a:prstGeom prst="rect">
            <a:avLst/>
          </a:prstGeom>
        </p:spPr>
      </p:pic>
    </p:spTree>
    <p:extLst>
      <p:ext uri="{BB962C8B-B14F-4D97-AF65-F5344CB8AC3E}">
        <p14:creationId xmlns:p14="http://schemas.microsoft.com/office/powerpoint/2010/main" val="3057956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49" name="Rectangle 48">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0" name="Oval 49">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1" name="Oval 50">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52" name="Group 51">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54" name="Rectangle 53">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5" name="Rectangle 54">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3" name="Rectangle 52">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7" name="Rectangle 56">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59" name="Rectangle 58">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62" name="Rectangle 61">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7" name="Group 64">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70" name="Rectangle 69">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68" name="Rectangle 67">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 name="Rectangle 66">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 name="Rectangle 72">
            <a:extLst>
              <a:ext uri="{FF2B5EF4-FFF2-40B4-BE49-F238E27FC236}">
                <a16:creationId xmlns:a16="http://schemas.microsoft.com/office/drawing/2014/main" id="{2018D2DA-B3B3-46C7-89FE-77C1647B7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6858001"/>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A04D354-1EA9-E5FA-125E-1D4F6679E5BF}"/>
              </a:ext>
            </a:extLst>
          </p:cNvPr>
          <p:cNvSpPr>
            <a:spLocks noGrp="1"/>
          </p:cNvSpPr>
          <p:nvPr>
            <p:ph type="title"/>
          </p:nvPr>
        </p:nvSpPr>
        <p:spPr>
          <a:xfrm>
            <a:off x="540000" y="540000"/>
            <a:ext cx="4500561" cy="1953501"/>
          </a:xfrm>
        </p:spPr>
        <p:txBody>
          <a:bodyPr vert="horz" lIns="91440" tIns="45720" rIns="91440" bIns="45720" rtlCol="0" anchor="t">
            <a:normAutofit fontScale="90000"/>
          </a:bodyPr>
          <a:lstStyle/>
          <a:p>
            <a:r>
              <a:rPr lang="en-US" sz="4700" b="1" i="1" dirty="0"/>
              <a:t>Creating files and uploading from git into EC2</a:t>
            </a:r>
          </a:p>
        </p:txBody>
      </p:sp>
      <p:sp>
        <p:nvSpPr>
          <p:cNvPr id="4" name="Text Placeholder 3">
            <a:extLst>
              <a:ext uri="{FF2B5EF4-FFF2-40B4-BE49-F238E27FC236}">
                <a16:creationId xmlns:a16="http://schemas.microsoft.com/office/drawing/2014/main" id="{7F777C2A-93BA-CA3D-771D-AC56626C8BA7}"/>
              </a:ext>
            </a:extLst>
          </p:cNvPr>
          <p:cNvSpPr>
            <a:spLocks noGrp="1"/>
          </p:cNvSpPr>
          <p:nvPr>
            <p:ph type="body" sz="half" idx="2"/>
          </p:nvPr>
        </p:nvSpPr>
        <p:spPr>
          <a:xfrm>
            <a:off x="5232400" y="540000"/>
            <a:ext cx="6408738" cy="1953501"/>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400" i="1" cap="none" spc="50" dirty="0"/>
              <a:t>Create a folder in home by entering below commands: cd home; </a:t>
            </a:r>
            <a:r>
              <a:rPr lang="en-US" sz="1400" i="1" cap="none" spc="50" dirty="0" err="1"/>
              <a:t>mkdir</a:t>
            </a:r>
            <a:r>
              <a:rPr lang="en-US" sz="1400" i="1" cap="none" spc="50" dirty="0"/>
              <a:t> WSIW;</a:t>
            </a:r>
          </a:p>
          <a:p>
            <a:pPr marL="342900" indent="-270000">
              <a:lnSpc>
                <a:spcPct val="115000"/>
              </a:lnSpc>
              <a:buFont typeface="Arial" panose="020B0604020202020204" pitchFamily="34" charset="0"/>
              <a:buChar char="•"/>
            </a:pPr>
            <a:r>
              <a:rPr lang="en-US" sz="1400" i="1" cap="none" spc="50" dirty="0"/>
              <a:t>Now enter “git clone </a:t>
            </a:r>
            <a:r>
              <a:rPr lang="en-US" sz="1400" i="1" cap="none" spc="50" dirty="0" err="1"/>
              <a:t>give_your_repository_link</a:t>
            </a:r>
            <a:r>
              <a:rPr lang="en-US" sz="1400" i="1" cap="none" spc="50" dirty="0"/>
              <a:t>”.</a:t>
            </a:r>
          </a:p>
          <a:p>
            <a:pPr marL="342900" indent="-270000">
              <a:lnSpc>
                <a:spcPct val="115000"/>
              </a:lnSpc>
              <a:buFont typeface="Arial" panose="020B0604020202020204" pitchFamily="34" charset="0"/>
              <a:buChar char="•"/>
            </a:pPr>
            <a:r>
              <a:rPr lang="en-US" sz="1400" i="1" cap="none" spc="50" dirty="0"/>
              <a:t>Then the folder structure is available in both cases.</a:t>
            </a:r>
          </a:p>
          <a:p>
            <a:pPr marL="342900" indent="-270000">
              <a:lnSpc>
                <a:spcPct val="115000"/>
              </a:lnSpc>
              <a:buFont typeface="Arial" panose="020B0604020202020204" pitchFamily="34" charset="0"/>
              <a:buChar char="•"/>
            </a:pPr>
            <a:r>
              <a:rPr lang="en-US" sz="1400" i="1" cap="none" spc="50" dirty="0"/>
              <a:t>Run “</a:t>
            </a:r>
            <a:r>
              <a:rPr lang="en-US" sz="1400" i="1" cap="none" spc="50" dirty="0" err="1"/>
              <a:t>npm</a:t>
            </a:r>
            <a:r>
              <a:rPr lang="en-US" sz="1400" i="1" cap="none" spc="50" dirty="0"/>
              <a:t> install” in cd WSIW/WSIWUI/</a:t>
            </a:r>
            <a:r>
              <a:rPr lang="en-US" sz="1400" i="1" cap="none" spc="50" dirty="0" err="1"/>
              <a:t>src</a:t>
            </a:r>
            <a:r>
              <a:rPr lang="en-US" sz="1400" i="1" cap="none" spc="50" dirty="0"/>
              <a:t> and cd/WSIW/WSIWApi.</a:t>
            </a:r>
          </a:p>
        </p:txBody>
      </p:sp>
      <p:pic>
        <p:nvPicPr>
          <p:cNvPr id="8" name="Picture 7">
            <a:extLst>
              <a:ext uri="{FF2B5EF4-FFF2-40B4-BE49-F238E27FC236}">
                <a16:creationId xmlns:a16="http://schemas.microsoft.com/office/drawing/2014/main" id="{6F8BF3D8-2269-21C8-21E7-2CC8EBEBA156}"/>
              </a:ext>
            </a:extLst>
          </p:cNvPr>
          <p:cNvPicPr>
            <a:picLocks noChangeAspect="1"/>
          </p:cNvPicPr>
          <p:nvPr/>
        </p:nvPicPr>
        <p:blipFill>
          <a:blip r:embed="rId2">
            <a:alphaModFix/>
          </a:blip>
          <a:stretch>
            <a:fillRect/>
          </a:stretch>
        </p:blipFill>
        <p:spPr>
          <a:xfrm>
            <a:off x="540000" y="3664376"/>
            <a:ext cx="3578400" cy="1851822"/>
          </a:xfrm>
          <a:prstGeom prst="rect">
            <a:avLst/>
          </a:prstGeom>
        </p:spPr>
      </p:pic>
      <p:pic>
        <p:nvPicPr>
          <p:cNvPr id="10" name="Picture 9">
            <a:extLst>
              <a:ext uri="{FF2B5EF4-FFF2-40B4-BE49-F238E27FC236}">
                <a16:creationId xmlns:a16="http://schemas.microsoft.com/office/drawing/2014/main" id="{9E5BF260-1119-F852-8957-DBC01029C9A5}"/>
              </a:ext>
            </a:extLst>
          </p:cNvPr>
          <p:cNvPicPr>
            <a:picLocks noChangeAspect="1"/>
          </p:cNvPicPr>
          <p:nvPr/>
        </p:nvPicPr>
        <p:blipFill>
          <a:blip r:embed="rId3">
            <a:alphaModFix/>
          </a:blip>
          <a:stretch>
            <a:fillRect/>
          </a:stretch>
        </p:blipFill>
        <p:spPr>
          <a:xfrm>
            <a:off x="4301368" y="3664376"/>
            <a:ext cx="3578400" cy="1851822"/>
          </a:xfrm>
          <a:prstGeom prst="rect">
            <a:avLst/>
          </a:prstGeom>
        </p:spPr>
      </p:pic>
      <p:pic>
        <p:nvPicPr>
          <p:cNvPr id="6" name="Picture 5">
            <a:extLst>
              <a:ext uri="{FF2B5EF4-FFF2-40B4-BE49-F238E27FC236}">
                <a16:creationId xmlns:a16="http://schemas.microsoft.com/office/drawing/2014/main" id="{F8255DA6-F8C1-FD9C-51B8-F080B21CF5FB}"/>
              </a:ext>
            </a:extLst>
          </p:cNvPr>
          <p:cNvPicPr>
            <a:picLocks noChangeAspect="1"/>
          </p:cNvPicPr>
          <p:nvPr/>
        </p:nvPicPr>
        <p:blipFill>
          <a:blip r:embed="rId4">
            <a:alphaModFix/>
          </a:blip>
          <a:stretch>
            <a:fillRect/>
          </a:stretch>
        </p:blipFill>
        <p:spPr>
          <a:xfrm>
            <a:off x="8062736" y="3668849"/>
            <a:ext cx="3578400" cy="1842876"/>
          </a:xfrm>
          <a:prstGeom prst="rect">
            <a:avLst/>
          </a:prstGeom>
        </p:spPr>
      </p:pic>
    </p:spTree>
    <p:extLst>
      <p:ext uri="{BB962C8B-B14F-4D97-AF65-F5344CB8AC3E}">
        <p14:creationId xmlns:p14="http://schemas.microsoft.com/office/powerpoint/2010/main" val="1092626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2" name="Group 45">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77" name="Rectangle 46">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8" name="Oval 47">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9" name="Oval 48">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50" name="Group 49">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80" name="Rectangle 51">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1" name="Rectangle 52">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82" name="Rectangle 50">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83" name="Rectangle 54">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84" name="Rectangle 56">
            <a:extLst>
              <a:ext uri="{FF2B5EF4-FFF2-40B4-BE49-F238E27FC236}">
                <a16:creationId xmlns:a16="http://schemas.microsoft.com/office/drawing/2014/main" id="{B4F9B187-EC02-44E0-99C7-5D629D664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58">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86" name="Rectangle 59">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7" name="Group 62">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68" name="Rectangle 67">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8">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63">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90" name="Rectangle 65">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64">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 name="Rectangle 70">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3A5EE215-D750-F5EF-BA1F-3A10855D10A7}"/>
              </a:ext>
            </a:extLst>
          </p:cNvPr>
          <p:cNvSpPr>
            <a:spLocks noGrp="1"/>
          </p:cNvSpPr>
          <p:nvPr>
            <p:ph type="title"/>
          </p:nvPr>
        </p:nvSpPr>
        <p:spPr>
          <a:xfrm>
            <a:off x="7086315" y="540000"/>
            <a:ext cx="4554821" cy="2186096"/>
          </a:xfrm>
        </p:spPr>
        <p:txBody>
          <a:bodyPr vert="horz" lIns="91440" tIns="45720" rIns="91440" bIns="45720" rtlCol="0" anchor="t">
            <a:normAutofit fontScale="90000"/>
          </a:bodyPr>
          <a:lstStyle/>
          <a:p>
            <a:r>
              <a:rPr lang="en-US" b="1" i="1" dirty="0"/>
              <a:t>Setting up RDS Database from Local</a:t>
            </a:r>
          </a:p>
        </p:txBody>
      </p:sp>
      <p:grpSp>
        <p:nvGrpSpPr>
          <p:cNvPr id="73" name="Group 72">
            <a:extLst>
              <a:ext uri="{FF2B5EF4-FFF2-40B4-BE49-F238E27FC236}">
                <a16:creationId xmlns:a16="http://schemas.microsoft.com/office/drawing/2014/main" id="{7B4E221E-E4F3-4D25-8DC8-8A3D08C830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491700" y="811038"/>
            <a:ext cx="6131951" cy="5783897"/>
            <a:chOff x="4925125" y="3600"/>
            <a:chExt cx="7266875" cy="6854400"/>
          </a:xfrm>
        </p:grpSpPr>
        <p:sp>
          <p:nvSpPr>
            <p:cNvPr id="74" name="Oval 73">
              <a:extLst>
                <a:ext uri="{FF2B5EF4-FFF2-40B4-BE49-F238E27FC236}">
                  <a16:creationId xmlns:a16="http://schemas.microsoft.com/office/drawing/2014/main" id="{1DCB79C8-6A25-43E7-AC87-D1D7C60710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2BABC8D9-79F4-4665-99B3-4EA1B520E5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808BC036-0C59-4D8B-8F96-46D122C906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a:extLst>
              <a:ext uri="{FF2B5EF4-FFF2-40B4-BE49-F238E27FC236}">
                <a16:creationId xmlns:a16="http://schemas.microsoft.com/office/drawing/2014/main" id="{37D11EE4-0233-AF68-C94C-8D9327A49BDB}"/>
              </a:ext>
            </a:extLst>
          </p:cNvPr>
          <p:cNvPicPr>
            <a:picLocks noChangeAspect="1"/>
          </p:cNvPicPr>
          <p:nvPr/>
        </p:nvPicPr>
        <p:blipFill rotWithShape="1">
          <a:blip r:embed="rId2"/>
          <a:srcRect l="16849" r="26901"/>
          <a:stretch/>
        </p:blipFill>
        <p:spPr>
          <a:xfrm>
            <a:off x="18842" y="7400"/>
            <a:ext cx="685798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
        <p:nvSpPr>
          <p:cNvPr id="4" name="Text Placeholder 3">
            <a:extLst>
              <a:ext uri="{FF2B5EF4-FFF2-40B4-BE49-F238E27FC236}">
                <a16:creationId xmlns:a16="http://schemas.microsoft.com/office/drawing/2014/main" id="{6C9B8BEC-9625-05DC-27A5-623D53919C4F}"/>
              </a:ext>
            </a:extLst>
          </p:cNvPr>
          <p:cNvSpPr>
            <a:spLocks noGrp="1"/>
          </p:cNvSpPr>
          <p:nvPr>
            <p:ph type="body" sz="half" idx="2"/>
          </p:nvPr>
        </p:nvSpPr>
        <p:spPr>
          <a:xfrm>
            <a:off x="7104063" y="2947121"/>
            <a:ext cx="4537073" cy="3361604"/>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300" i="1" cap="none" spc="50" dirty="0"/>
              <a:t>Open </a:t>
            </a:r>
            <a:r>
              <a:rPr lang="en-US" sz="1300" i="1" cap="none" spc="50" dirty="0" err="1"/>
              <a:t>Mysql</a:t>
            </a:r>
            <a:r>
              <a:rPr lang="en-US" sz="1300" i="1" cap="none" spc="50" dirty="0"/>
              <a:t> Workbench and use the details to connect to the server that are shown in the picture. Give the password by clicking on ”store in vault”. Click on test connection and give the password again. Where hostname is endpoint that’s given in AWS RDS instance page and admin, password are the one’s which we setting while creating the instance.</a:t>
            </a:r>
          </a:p>
          <a:p>
            <a:pPr marL="342900" indent="-270000">
              <a:lnSpc>
                <a:spcPct val="115000"/>
              </a:lnSpc>
              <a:buFont typeface="Arial" panose="020B0604020202020204" pitchFamily="34" charset="0"/>
              <a:buChar char="•"/>
            </a:pPr>
            <a:r>
              <a:rPr lang="en-US" sz="1300" i="1" cap="none" spc="50" dirty="0"/>
              <a:t>After connecting to the server run all the commands that are present in the .</a:t>
            </a:r>
            <a:r>
              <a:rPr lang="en-US" sz="1300" i="1" cap="none" spc="50" dirty="0" err="1"/>
              <a:t>sql</a:t>
            </a:r>
            <a:r>
              <a:rPr lang="en-US" sz="1300" i="1" cap="none" spc="50" dirty="0"/>
              <a:t> file that’s provided in the project folder.</a:t>
            </a:r>
          </a:p>
          <a:p>
            <a:pPr marL="342900" indent="-270000">
              <a:lnSpc>
                <a:spcPct val="115000"/>
              </a:lnSpc>
              <a:buFont typeface="Arial" panose="020B0604020202020204" pitchFamily="34" charset="0"/>
              <a:buChar char="•"/>
            </a:pPr>
            <a:r>
              <a:rPr lang="en-US" sz="1300" i="1" cap="none" spc="50" dirty="0"/>
              <a:t>The database is ready with the tables and we can do all modifications on tables from local itself.</a:t>
            </a:r>
          </a:p>
        </p:txBody>
      </p:sp>
    </p:spTree>
    <p:extLst>
      <p:ext uri="{BB962C8B-B14F-4D97-AF65-F5344CB8AC3E}">
        <p14:creationId xmlns:p14="http://schemas.microsoft.com/office/powerpoint/2010/main" val="1196714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2" name="Rectangle 1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Oval 1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5" name="Group 1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7" name="Rectangle 1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2" name="Rectangle 21">
            <a:extLst>
              <a:ext uri="{FF2B5EF4-FFF2-40B4-BE49-F238E27FC236}">
                <a16:creationId xmlns:a16="http://schemas.microsoft.com/office/drawing/2014/main" id="{182D455B-C993-4AC2-BAC2-D5C9890CE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C0A09F-9D68-0A55-CCDA-2E3A7EC8C8EF}"/>
              </a:ext>
            </a:extLst>
          </p:cNvPr>
          <p:cNvSpPr>
            <a:spLocks noGrp="1"/>
          </p:cNvSpPr>
          <p:nvPr>
            <p:ph type="title"/>
          </p:nvPr>
        </p:nvSpPr>
        <p:spPr>
          <a:xfrm>
            <a:off x="540000" y="540000"/>
            <a:ext cx="4500561" cy="5768725"/>
          </a:xfrm>
        </p:spPr>
        <p:txBody>
          <a:bodyPr vert="horz" lIns="91440" tIns="45720" rIns="91440" bIns="45720" rtlCol="0" anchor="t">
            <a:normAutofit/>
          </a:bodyPr>
          <a:lstStyle/>
          <a:p>
            <a:r>
              <a:rPr lang="en-US" sz="6200" b="1" i="1" dirty="0"/>
              <a:t>Optional- Setting up RDS Database through EC Console</a:t>
            </a:r>
          </a:p>
        </p:txBody>
      </p:sp>
      <p:pic>
        <p:nvPicPr>
          <p:cNvPr id="6" name="Picture 5">
            <a:extLst>
              <a:ext uri="{FF2B5EF4-FFF2-40B4-BE49-F238E27FC236}">
                <a16:creationId xmlns:a16="http://schemas.microsoft.com/office/drawing/2014/main" id="{F3342EED-1469-1683-97A4-B9382CAD18B4}"/>
              </a:ext>
            </a:extLst>
          </p:cNvPr>
          <p:cNvPicPr>
            <a:picLocks noChangeAspect="1"/>
          </p:cNvPicPr>
          <p:nvPr/>
        </p:nvPicPr>
        <p:blipFill>
          <a:blip r:embed="rId2">
            <a:alphaModFix/>
          </a:blip>
          <a:stretch>
            <a:fillRect/>
          </a:stretch>
        </p:blipFill>
        <p:spPr>
          <a:xfrm>
            <a:off x="5232400" y="664682"/>
            <a:ext cx="6408735" cy="3300498"/>
          </a:xfrm>
          <a:prstGeom prst="rect">
            <a:avLst/>
          </a:prstGeom>
        </p:spPr>
      </p:pic>
      <p:sp>
        <p:nvSpPr>
          <p:cNvPr id="4" name="Text Placeholder 3">
            <a:extLst>
              <a:ext uri="{FF2B5EF4-FFF2-40B4-BE49-F238E27FC236}">
                <a16:creationId xmlns:a16="http://schemas.microsoft.com/office/drawing/2014/main" id="{C4E40A6B-E8D3-A7BB-BEB9-E5E87556955C}"/>
              </a:ext>
            </a:extLst>
          </p:cNvPr>
          <p:cNvSpPr>
            <a:spLocks noGrp="1"/>
          </p:cNvSpPr>
          <p:nvPr>
            <p:ph type="body" sz="half" idx="2"/>
          </p:nvPr>
        </p:nvSpPr>
        <p:spPr>
          <a:xfrm>
            <a:off x="5232400" y="4304522"/>
            <a:ext cx="6408738" cy="2012178"/>
          </a:xfrm>
        </p:spPr>
        <p:txBody>
          <a:bodyPr vert="horz" lIns="91440" tIns="45720" rIns="91440" bIns="45720" rtlCol="0" anchor="b">
            <a:normAutofit fontScale="85000" lnSpcReduction="10000"/>
          </a:bodyPr>
          <a:lstStyle/>
          <a:p>
            <a:pPr indent="-270000">
              <a:buFont typeface="Arial" panose="020B0604020202020204" pitchFamily="34" charset="0"/>
              <a:buChar char="•"/>
            </a:pPr>
            <a:r>
              <a:rPr lang="en-US" sz="1800" i="1" cap="none" spc="50" dirty="0"/>
              <a:t>Use the below command to connect to RDS server through AWS console and run all the queries that are in .</a:t>
            </a:r>
            <a:r>
              <a:rPr lang="en-US" sz="1800" i="1" cap="none" spc="50" dirty="0" err="1"/>
              <a:t>sql</a:t>
            </a:r>
            <a:r>
              <a:rPr lang="en-US" sz="1800" i="1" cap="none" spc="50" dirty="0"/>
              <a:t> file which is present in project folder.</a:t>
            </a:r>
          </a:p>
          <a:p>
            <a:pPr indent="-270000">
              <a:buFont typeface="Arial" panose="020B0604020202020204" pitchFamily="34" charset="0"/>
              <a:buChar char="•"/>
            </a:pPr>
            <a:r>
              <a:rPr lang="en-US" sz="1800" i="1" cap="none" spc="50" dirty="0"/>
              <a:t>Write the below command to EC2 console (do not copy paste):  </a:t>
            </a:r>
            <a:r>
              <a:rPr lang="en-US" sz="1800" i="1" cap="none" spc="50" dirty="0" err="1"/>
              <a:t>sudo</a:t>
            </a:r>
            <a:r>
              <a:rPr lang="en-US" sz="1800" i="1" cap="none" spc="50" dirty="0"/>
              <a:t> </a:t>
            </a:r>
            <a:r>
              <a:rPr lang="en-US" sz="1800" i="1" cap="none" spc="50" dirty="0" err="1"/>
              <a:t>mysql</a:t>
            </a:r>
            <a:r>
              <a:rPr lang="en-US" sz="1800" i="1" cap="none" spc="50" dirty="0"/>
              <a:t> -u </a:t>
            </a:r>
            <a:r>
              <a:rPr lang="en-US" sz="1800" i="1" cap="none" spc="50" dirty="0" err="1"/>
              <a:t>wsiwdb</a:t>
            </a:r>
            <a:r>
              <a:rPr lang="en-US" sz="1800" i="1" cap="none" spc="50" dirty="0"/>
              <a:t> -h wsiwdb.ccciy990gxje.us-east-1.rds.amazonaws.com -P 3306 -p and give the password.</a:t>
            </a:r>
          </a:p>
        </p:txBody>
      </p:sp>
    </p:spTree>
    <p:extLst>
      <p:ext uri="{BB962C8B-B14F-4D97-AF65-F5344CB8AC3E}">
        <p14:creationId xmlns:p14="http://schemas.microsoft.com/office/powerpoint/2010/main" val="3990646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6" name="Rectangle 15">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Oval 16">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Oval 17">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9" name="Group 18">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21" name="Rectangle 20">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Rectangle 21">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4" name="Rectangle 23">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6" name="Rectangle 25">
            <a:extLst>
              <a:ext uri="{FF2B5EF4-FFF2-40B4-BE49-F238E27FC236}">
                <a16:creationId xmlns:a16="http://schemas.microsoft.com/office/drawing/2014/main" id="{182D455B-C993-4AC2-BAC2-D5C9890CE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469D95-E8D6-5D6C-78CA-E6FDD264E5DD}"/>
              </a:ext>
            </a:extLst>
          </p:cNvPr>
          <p:cNvSpPr>
            <a:spLocks noGrp="1"/>
          </p:cNvSpPr>
          <p:nvPr>
            <p:ph type="title"/>
          </p:nvPr>
        </p:nvSpPr>
        <p:spPr>
          <a:xfrm>
            <a:off x="540000" y="540000"/>
            <a:ext cx="4500561" cy="5768725"/>
          </a:xfrm>
        </p:spPr>
        <p:txBody>
          <a:bodyPr vert="horz" lIns="91440" tIns="45720" rIns="91440" bIns="45720" rtlCol="0" anchor="t">
            <a:normAutofit/>
          </a:bodyPr>
          <a:lstStyle/>
          <a:p>
            <a:r>
              <a:rPr lang="en-US" sz="8800" b="1" i="1"/>
              <a:t>Setting up Elastic IP</a:t>
            </a:r>
          </a:p>
        </p:txBody>
      </p:sp>
      <p:pic>
        <p:nvPicPr>
          <p:cNvPr id="10" name="Picture 9">
            <a:extLst>
              <a:ext uri="{FF2B5EF4-FFF2-40B4-BE49-F238E27FC236}">
                <a16:creationId xmlns:a16="http://schemas.microsoft.com/office/drawing/2014/main" id="{F239BE0A-B4E4-E366-DF36-89ECB68ADD04}"/>
              </a:ext>
            </a:extLst>
          </p:cNvPr>
          <p:cNvPicPr>
            <a:picLocks noChangeAspect="1"/>
          </p:cNvPicPr>
          <p:nvPr/>
        </p:nvPicPr>
        <p:blipFill>
          <a:blip r:embed="rId2">
            <a:alphaModFix/>
          </a:blip>
          <a:stretch>
            <a:fillRect/>
          </a:stretch>
        </p:blipFill>
        <p:spPr>
          <a:xfrm>
            <a:off x="5232400" y="664682"/>
            <a:ext cx="6408735" cy="3300498"/>
          </a:xfrm>
          <a:prstGeom prst="rect">
            <a:avLst/>
          </a:prstGeom>
        </p:spPr>
      </p:pic>
      <p:sp>
        <p:nvSpPr>
          <p:cNvPr id="4" name="Text Placeholder 3">
            <a:extLst>
              <a:ext uri="{FF2B5EF4-FFF2-40B4-BE49-F238E27FC236}">
                <a16:creationId xmlns:a16="http://schemas.microsoft.com/office/drawing/2014/main" id="{09714197-123D-4B2D-7546-19D6A4162385}"/>
              </a:ext>
            </a:extLst>
          </p:cNvPr>
          <p:cNvSpPr>
            <a:spLocks noGrp="1"/>
          </p:cNvSpPr>
          <p:nvPr>
            <p:ph type="body" sz="half" idx="2"/>
          </p:nvPr>
        </p:nvSpPr>
        <p:spPr>
          <a:xfrm>
            <a:off x="5232400" y="4304522"/>
            <a:ext cx="6408738" cy="2012178"/>
          </a:xfrm>
        </p:spPr>
        <p:txBody>
          <a:bodyPr vert="horz" lIns="91440" tIns="45720" rIns="91440" bIns="45720" rtlCol="0" anchor="b">
            <a:normAutofit/>
          </a:bodyPr>
          <a:lstStyle/>
          <a:p>
            <a:pPr indent="-270000">
              <a:lnSpc>
                <a:spcPct val="115000"/>
              </a:lnSpc>
              <a:buFont typeface="Arial" panose="020B0604020202020204" pitchFamily="34" charset="0"/>
              <a:buChar char="•"/>
            </a:pPr>
            <a:r>
              <a:rPr lang="en-US" sz="1300" i="1" cap="none" spc="50"/>
              <a:t>Open Elastic IP in AWS and follow below steps:</a:t>
            </a:r>
          </a:p>
          <a:p>
            <a:pPr marL="342900" indent="-270000">
              <a:lnSpc>
                <a:spcPct val="115000"/>
              </a:lnSpc>
              <a:buFont typeface="Arial" panose="020B0604020202020204" pitchFamily="34" charset="0"/>
              <a:buChar char="•"/>
            </a:pPr>
            <a:r>
              <a:rPr lang="en-US" sz="1300" i="1" cap="none" spc="50"/>
              <a:t>Click on “Allocate Elastic IP address” on top right corner of the page.</a:t>
            </a:r>
          </a:p>
          <a:p>
            <a:pPr marL="342900" indent="-270000">
              <a:lnSpc>
                <a:spcPct val="115000"/>
              </a:lnSpc>
              <a:buFont typeface="Arial" panose="020B0604020202020204" pitchFamily="34" charset="0"/>
              <a:buChar char="•"/>
            </a:pPr>
            <a:r>
              <a:rPr lang="en-US" sz="1300" i="1" cap="none" spc="50"/>
              <a:t>Click on Allocate. Now select the IP that got created and click on actions tab and navigate to “Associate Elastic IP address”.</a:t>
            </a:r>
          </a:p>
          <a:p>
            <a:pPr marL="342900" indent="-270000">
              <a:lnSpc>
                <a:spcPct val="115000"/>
              </a:lnSpc>
              <a:buFont typeface="Arial" panose="020B0604020202020204" pitchFamily="34" charset="0"/>
              <a:buChar char="•"/>
            </a:pPr>
            <a:r>
              <a:rPr lang="en-US" sz="1300" i="1" cap="none" spc="50"/>
              <a:t>Select the EC2 instance which we want to give our IP to and leave everything as default then click on create.</a:t>
            </a:r>
          </a:p>
        </p:txBody>
      </p:sp>
    </p:spTree>
    <p:extLst>
      <p:ext uri="{BB962C8B-B14F-4D97-AF65-F5344CB8AC3E}">
        <p14:creationId xmlns:p14="http://schemas.microsoft.com/office/powerpoint/2010/main" val="3083150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2" name="Rectangle 1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Oval 1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5" name="Group 1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7" name="Rectangle 1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2" name="Rectangle 21">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5" name="Rectangle 24">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3" name="Rectangle 32">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1" name="Rectangle 30">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A2631CC2-40BB-8EE3-F69B-08E031A3D490}"/>
              </a:ext>
            </a:extLst>
          </p:cNvPr>
          <p:cNvSpPr>
            <a:spLocks noGrp="1"/>
          </p:cNvSpPr>
          <p:nvPr>
            <p:ph type="title"/>
          </p:nvPr>
        </p:nvSpPr>
        <p:spPr>
          <a:xfrm>
            <a:off x="540000" y="540000"/>
            <a:ext cx="4500561" cy="1953501"/>
          </a:xfrm>
        </p:spPr>
        <p:txBody>
          <a:bodyPr vert="horz" lIns="91440" tIns="45720" rIns="91440" bIns="45720" rtlCol="0" anchor="t">
            <a:normAutofit/>
          </a:bodyPr>
          <a:lstStyle/>
          <a:p>
            <a:r>
              <a:rPr lang="en-US" b="1" i="1" dirty="0"/>
              <a:t>Setting up PM2 in EC2</a:t>
            </a:r>
          </a:p>
        </p:txBody>
      </p:sp>
      <p:sp>
        <p:nvSpPr>
          <p:cNvPr id="4" name="Text Placeholder 3">
            <a:extLst>
              <a:ext uri="{FF2B5EF4-FFF2-40B4-BE49-F238E27FC236}">
                <a16:creationId xmlns:a16="http://schemas.microsoft.com/office/drawing/2014/main" id="{6EE8C62C-1DD9-902D-E355-E355A3406665}"/>
              </a:ext>
            </a:extLst>
          </p:cNvPr>
          <p:cNvSpPr>
            <a:spLocks noGrp="1"/>
          </p:cNvSpPr>
          <p:nvPr>
            <p:ph type="body" sz="half" idx="2"/>
          </p:nvPr>
        </p:nvSpPr>
        <p:spPr>
          <a:xfrm>
            <a:off x="5232400" y="540000"/>
            <a:ext cx="6408738" cy="1998000"/>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700" i="1" cap="none" spc="50" dirty="0"/>
              <a:t>Run the below command 2 times by going to directories /cd/home/WSIW/WSIWUI/</a:t>
            </a:r>
            <a:r>
              <a:rPr lang="en-US" sz="1700" i="1" cap="none" spc="50" dirty="0" err="1"/>
              <a:t>src</a:t>
            </a:r>
            <a:r>
              <a:rPr lang="en-US" sz="1700" i="1" cap="none" spc="50" dirty="0"/>
              <a:t> and /cd/home/WSIW/WSIWApi: pm2 start </a:t>
            </a:r>
            <a:r>
              <a:rPr lang="en-US" sz="1700" i="1" cap="none" spc="50" dirty="0" err="1"/>
              <a:t>npm</a:t>
            </a:r>
            <a:r>
              <a:rPr lang="en-US" sz="1700" i="1" cap="none" spc="50" dirty="0"/>
              <a:t> --name "app.js" – start.</a:t>
            </a:r>
          </a:p>
          <a:p>
            <a:pPr marL="342900" indent="-270000">
              <a:lnSpc>
                <a:spcPct val="115000"/>
              </a:lnSpc>
              <a:buFont typeface="Arial" panose="020B0604020202020204" pitchFamily="34" charset="0"/>
              <a:buChar char="•"/>
            </a:pPr>
            <a:r>
              <a:rPr lang="en-US" sz="1700" i="1" cap="none" spc="50" dirty="0"/>
              <a:t>Now enter “pm2 list” and  make sure there are 2 processes running one is for UI and other one is for API.</a:t>
            </a:r>
          </a:p>
        </p:txBody>
      </p:sp>
      <p:pic>
        <p:nvPicPr>
          <p:cNvPr id="6" name="Picture 5" descr="A screenshot of a computer&#10;&#10;Description automatically generated">
            <a:extLst>
              <a:ext uri="{FF2B5EF4-FFF2-40B4-BE49-F238E27FC236}">
                <a16:creationId xmlns:a16="http://schemas.microsoft.com/office/drawing/2014/main" id="{CED704E7-39E8-5207-BD9E-BC09FA80D384}"/>
              </a:ext>
            </a:extLst>
          </p:cNvPr>
          <p:cNvPicPr>
            <a:picLocks noChangeAspect="1"/>
          </p:cNvPicPr>
          <p:nvPr/>
        </p:nvPicPr>
        <p:blipFill>
          <a:blip r:embed="rId2">
            <a:alphaModFix/>
          </a:blip>
          <a:stretch>
            <a:fillRect/>
          </a:stretch>
        </p:blipFill>
        <p:spPr>
          <a:xfrm>
            <a:off x="2745555" y="2871846"/>
            <a:ext cx="6690025" cy="3445363"/>
          </a:xfrm>
          <a:prstGeom prst="rect">
            <a:avLst/>
          </a:prstGeom>
        </p:spPr>
      </p:pic>
    </p:spTree>
    <p:extLst>
      <p:ext uri="{BB962C8B-B14F-4D97-AF65-F5344CB8AC3E}">
        <p14:creationId xmlns:p14="http://schemas.microsoft.com/office/powerpoint/2010/main" val="699798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02" name="Rectangle 10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3" name="Oval 10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4" name="Oval 10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05" name="Group 10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07" name="Rectangle 10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8" name="Rectangle 10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06" name="Rectangle 10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0" name="Rectangle 10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112" name="Rectangle 111">
            <a:extLst>
              <a:ext uri="{FF2B5EF4-FFF2-40B4-BE49-F238E27FC236}">
                <a16:creationId xmlns:a16="http://schemas.microsoft.com/office/drawing/2014/main" id="{7D2FD795-8DF5-44F0-8664-4D8F626D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4" name="Group 113">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15" name="Rectangle 114">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8" name="Group 117">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23" name="Rectangle 122">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21" name="Rectangle 120">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0" name="Rectangle 119">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6" name="Rectangle 125">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C6965E2D-5B1D-59FB-2743-A5DB9DFC7DB7}"/>
              </a:ext>
            </a:extLst>
          </p:cNvPr>
          <p:cNvSpPr>
            <a:spLocks noGrp="1"/>
          </p:cNvSpPr>
          <p:nvPr>
            <p:ph type="title"/>
          </p:nvPr>
        </p:nvSpPr>
        <p:spPr>
          <a:xfrm>
            <a:off x="7086315" y="545126"/>
            <a:ext cx="4554821" cy="2186096"/>
          </a:xfrm>
        </p:spPr>
        <p:txBody>
          <a:bodyPr vert="horz" lIns="91440" tIns="45720" rIns="91440" bIns="45720" rtlCol="0" anchor="t">
            <a:normAutofit/>
          </a:bodyPr>
          <a:lstStyle/>
          <a:p>
            <a:r>
              <a:rPr lang="en-US" sz="4700" b="1" i="1"/>
              <a:t>Setting up Cronjob in EC2</a:t>
            </a:r>
          </a:p>
        </p:txBody>
      </p:sp>
      <p:pic>
        <p:nvPicPr>
          <p:cNvPr id="7" name="Picture 6">
            <a:extLst>
              <a:ext uri="{FF2B5EF4-FFF2-40B4-BE49-F238E27FC236}">
                <a16:creationId xmlns:a16="http://schemas.microsoft.com/office/drawing/2014/main" id="{8D7902B0-5865-9777-AF45-54580047628D}"/>
              </a:ext>
            </a:extLst>
          </p:cNvPr>
          <p:cNvPicPr>
            <a:picLocks noChangeAspect="1"/>
          </p:cNvPicPr>
          <p:nvPr/>
        </p:nvPicPr>
        <p:blipFill>
          <a:blip r:embed="rId2"/>
          <a:stretch>
            <a:fillRect/>
          </a:stretch>
        </p:blipFill>
        <p:spPr>
          <a:xfrm>
            <a:off x="540000" y="1858999"/>
            <a:ext cx="6049714" cy="3130727"/>
          </a:xfrm>
          <a:prstGeom prst="rect">
            <a:avLst/>
          </a:prstGeom>
        </p:spPr>
      </p:pic>
      <p:sp>
        <p:nvSpPr>
          <p:cNvPr id="4" name="Text Placeholder 3">
            <a:extLst>
              <a:ext uri="{FF2B5EF4-FFF2-40B4-BE49-F238E27FC236}">
                <a16:creationId xmlns:a16="http://schemas.microsoft.com/office/drawing/2014/main" id="{293D4CE5-76B7-524E-17AD-7EF7D1F655DA}"/>
              </a:ext>
            </a:extLst>
          </p:cNvPr>
          <p:cNvSpPr>
            <a:spLocks noGrp="1"/>
          </p:cNvSpPr>
          <p:nvPr>
            <p:ph type="body" sz="half" idx="2"/>
          </p:nvPr>
        </p:nvSpPr>
        <p:spPr>
          <a:xfrm>
            <a:off x="7104063" y="2143125"/>
            <a:ext cx="4537073" cy="4165600"/>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100" i="1" cap="none" spc="50" dirty="0"/>
              <a:t>Enter “crontab –e” and enter ‘1’ we’ll get the cronjob file opened. Now go to the end and enter the below lines: “0 0 * * * /</a:t>
            </a:r>
            <a:r>
              <a:rPr lang="en-US" sz="1100" i="1" cap="none" spc="50" dirty="0" err="1"/>
              <a:t>usr</a:t>
            </a:r>
            <a:r>
              <a:rPr lang="en-US" sz="1100" i="1" cap="none" spc="50" dirty="0"/>
              <a:t>/bin/python3 /home/WSIW/WSIWApi/routes/weather.py 'all' 'weekly’ 0” and in next line enter “0 */2 * * * /</a:t>
            </a:r>
            <a:r>
              <a:rPr lang="en-US" sz="1100" i="1" cap="none" spc="50" dirty="0" err="1"/>
              <a:t>usr</a:t>
            </a:r>
            <a:r>
              <a:rPr lang="en-US" sz="1100" i="1" cap="none" spc="50" dirty="0"/>
              <a:t>/bin/python3 /home/WSIW/WSIWApi/routes/weather.py 'all' 'hourly’ 0”. “ ” are not included. </a:t>
            </a:r>
          </a:p>
          <a:p>
            <a:pPr marL="342900" indent="-270000">
              <a:lnSpc>
                <a:spcPct val="115000"/>
              </a:lnSpc>
              <a:buFont typeface="Arial" panose="020B0604020202020204" pitchFamily="34" charset="0"/>
              <a:buChar char="•"/>
            </a:pPr>
            <a:r>
              <a:rPr lang="en-US" sz="1100" i="1" cap="none" spc="50" dirty="0"/>
              <a:t>The first line runs once everyday that gives weekly inf and 2nd line runs for every 2 hours to get hourly inf.</a:t>
            </a:r>
          </a:p>
          <a:p>
            <a:pPr marL="342900" indent="-270000">
              <a:lnSpc>
                <a:spcPct val="115000"/>
              </a:lnSpc>
              <a:buFont typeface="Arial" panose="020B0604020202020204" pitchFamily="34" charset="0"/>
              <a:buChar char="•"/>
            </a:pPr>
            <a:r>
              <a:rPr lang="en-US" sz="1100" i="1" cap="none" spc="50" dirty="0"/>
              <a:t>Use below commands for info like:</a:t>
            </a:r>
          </a:p>
          <a:p>
            <a:pPr indent="-270000">
              <a:lnSpc>
                <a:spcPct val="115000"/>
              </a:lnSpc>
              <a:buFont typeface="Arial" panose="020B0604020202020204" pitchFamily="34" charset="0"/>
              <a:buChar char="•"/>
            </a:pPr>
            <a:r>
              <a:rPr lang="en-US" sz="1100" i="1" cap="none" spc="50" dirty="0"/>
              <a:t>crontab -e - opens a file to add </a:t>
            </a:r>
            <a:r>
              <a:rPr lang="en-US" sz="1100" i="1" cap="none" spc="50" dirty="0" err="1"/>
              <a:t>cron</a:t>
            </a:r>
            <a:r>
              <a:rPr lang="en-US" sz="1100" i="1" cap="none" spc="50" dirty="0"/>
              <a:t> </a:t>
            </a:r>
          </a:p>
          <a:p>
            <a:pPr indent="-270000">
              <a:lnSpc>
                <a:spcPct val="115000"/>
              </a:lnSpc>
              <a:buFont typeface="Arial" panose="020B0604020202020204" pitchFamily="34" charset="0"/>
              <a:buChar char="•"/>
            </a:pPr>
            <a:r>
              <a:rPr lang="en-US" sz="1100" i="1" cap="none" spc="50" dirty="0" err="1"/>
              <a:t>cmdps</a:t>
            </a:r>
            <a:r>
              <a:rPr lang="en-US" sz="1100" i="1" cap="none" spc="50" dirty="0"/>
              <a:t> -</a:t>
            </a:r>
            <a:r>
              <a:rPr lang="en-US" sz="1100" i="1" cap="none" spc="50" dirty="0" err="1"/>
              <a:t>ef</a:t>
            </a:r>
            <a:r>
              <a:rPr lang="en-US" sz="1100" i="1" cap="none" spc="50" dirty="0"/>
              <a:t> | grep weather.py - shows whether cronjob.py is running or not</a:t>
            </a:r>
          </a:p>
          <a:p>
            <a:pPr indent="-270000">
              <a:lnSpc>
                <a:spcPct val="115000"/>
              </a:lnSpc>
              <a:buFont typeface="Arial" panose="020B0604020202020204" pitchFamily="34" charset="0"/>
              <a:buChar char="•"/>
            </a:pPr>
            <a:r>
              <a:rPr lang="en-US" sz="1100" i="1" cap="none" spc="50" dirty="0" err="1"/>
              <a:t>sudo</a:t>
            </a:r>
            <a:r>
              <a:rPr lang="en-US" sz="1100" i="1" cap="none" spc="50" dirty="0"/>
              <a:t> grep “weather.py" /var/log/syslog - shows all previous instances the </a:t>
            </a:r>
            <a:r>
              <a:rPr lang="en-US" sz="1100" i="1" cap="none" spc="50" dirty="0" err="1"/>
              <a:t>cron</a:t>
            </a:r>
            <a:r>
              <a:rPr lang="en-US" sz="1100" i="1" cap="none" spc="50" dirty="0"/>
              <a:t> ran</a:t>
            </a:r>
          </a:p>
          <a:p>
            <a:pPr indent="-270000">
              <a:lnSpc>
                <a:spcPct val="115000"/>
              </a:lnSpc>
              <a:buFont typeface="Arial" panose="020B0604020202020204" pitchFamily="34" charset="0"/>
              <a:buChar char="•"/>
            </a:pPr>
            <a:r>
              <a:rPr lang="en-US" sz="1100" i="1" cap="none" spc="50" dirty="0"/>
              <a:t>Save the file, come out to the console and enter “</a:t>
            </a:r>
            <a:r>
              <a:rPr lang="en-US" sz="1100" i="1" cap="none" spc="50" dirty="0" err="1"/>
              <a:t>sudo</a:t>
            </a:r>
            <a:r>
              <a:rPr lang="en-US" sz="1100" i="1" cap="none" spc="50" dirty="0"/>
              <a:t> service </a:t>
            </a:r>
            <a:r>
              <a:rPr lang="en-US" sz="1100" i="1" cap="none" spc="50" dirty="0" err="1"/>
              <a:t>cron</a:t>
            </a:r>
            <a:r>
              <a:rPr lang="en-US" sz="1100" i="1" cap="none" spc="50" dirty="0"/>
              <a:t> restart” to start the </a:t>
            </a:r>
            <a:r>
              <a:rPr lang="en-US" sz="1100" i="1" cap="none" spc="50" dirty="0" err="1"/>
              <a:t>cron</a:t>
            </a:r>
            <a:r>
              <a:rPr lang="en-US" sz="1100" i="1" cap="none" spc="50" dirty="0"/>
              <a:t> running.</a:t>
            </a:r>
          </a:p>
        </p:txBody>
      </p:sp>
    </p:spTree>
    <p:extLst>
      <p:ext uri="{BB962C8B-B14F-4D97-AF65-F5344CB8AC3E}">
        <p14:creationId xmlns:p14="http://schemas.microsoft.com/office/powerpoint/2010/main" val="543980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4" name="Rectangle 13">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Oval 14">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Oval 15">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7" name="Group 16">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9" name="Rectangle 18">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8" name="Rectangle 17">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2" name="Rectangle 21">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4" name="Rectangle 23">
            <a:extLst>
              <a:ext uri="{FF2B5EF4-FFF2-40B4-BE49-F238E27FC236}">
                <a16:creationId xmlns:a16="http://schemas.microsoft.com/office/drawing/2014/main" id="{DD98E61A-E482-4DCD-B615-A18B8685C2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7" name="Rectangle 26">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5" name="Rectangle 34">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35">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3" name="Rectangle 32">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Rectangle 37">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843A1A51-8615-3F35-1398-4718146885D9}"/>
              </a:ext>
            </a:extLst>
          </p:cNvPr>
          <p:cNvSpPr>
            <a:spLocks noGrp="1"/>
          </p:cNvSpPr>
          <p:nvPr>
            <p:ph type="title"/>
          </p:nvPr>
        </p:nvSpPr>
        <p:spPr>
          <a:xfrm>
            <a:off x="7086315" y="545126"/>
            <a:ext cx="4891582" cy="1597999"/>
          </a:xfrm>
        </p:spPr>
        <p:txBody>
          <a:bodyPr vert="horz" lIns="91440" tIns="45720" rIns="91440" bIns="45720" rtlCol="0" anchor="t">
            <a:normAutofit/>
          </a:bodyPr>
          <a:lstStyle/>
          <a:p>
            <a:r>
              <a:rPr lang="en-US" sz="4700" b="1" i="1" dirty="0"/>
              <a:t>Setting up Route 53 Service</a:t>
            </a:r>
          </a:p>
        </p:txBody>
      </p:sp>
      <p:pic>
        <p:nvPicPr>
          <p:cNvPr id="8" name="Picture 7">
            <a:extLst>
              <a:ext uri="{FF2B5EF4-FFF2-40B4-BE49-F238E27FC236}">
                <a16:creationId xmlns:a16="http://schemas.microsoft.com/office/drawing/2014/main" id="{5741A65D-CD11-25CF-DE8D-6F53AD4B4FF7}"/>
              </a:ext>
            </a:extLst>
          </p:cNvPr>
          <p:cNvPicPr>
            <a:picLocks noChangeAspect="1"/>
          </p:cNvPicPr>
          <p:nvPr/>
        </p:nvPicPr>
        <p:blipFill>
          <a:blip r:embed="rId2"/>
          <a:stretch>
            <a:fillRect/>
          </a:stretch>
        </p:blipFill>
        <p:spPr>
          <a:xfrm>
            <a:off x="867733" y="549274"/>
            <a:ext cx="5394249" cy="2791525"/>
          </a:xfrm>
          <a:prstGeom prst="rect">
            <a:avLst/>
          </a:prstGeom>
        </p:spPr>
      </p:pic>
      <p:pic>
        <p:nvPicPr>
          <p:cNvPr id="6" name="Picture 5">
            <a:extLst>
              <a:ext uri="{FF2B5EF4-FFF2-40B4-BE49-F238E27FC236}">
                <a16:creationId xmlns:a16="http://schemas.microsoft.com/office/drawing/2014/main" id="{1680196B-0619-CC4B-AB78-C1A46903A02E}"/>
              </a:ext>
            </a:extLst>
          </p:cNvPr>
          <p:cNvPicPr>
            <a:picLocks noChangeAspect="1"/>
          </p:cNvPicPr>
          <p:nvPr/>
        </p:nvPicPr>
        <p:blipFill>
          <a:blip r:embed="rId3"/>
          <a:stretch>
            <a:fillRect/>
          </a:stretch>
        </p:blipFill>
        <p:spPr>
          <a:xfrm>
            <a:off x="858134" y="3520800"/>
            <a:ext cx="5413446" cy="2787925"/>
          </a:xfrm>
          <a:prstGeom prst="rect">
            <a:avLst/>
          </a:prstGeom>
        </p:spPr>
      </p:pic>
      <p:sp>
        <p:nvSpPr>
          <p:cNvPr id="4" name="Text Placeholder 3">
            <a:extLst>
              <a:ext uri="{FF2B5EF4-FFF2-40B4-BE49-F238E27FC236}">
                <a16:creationId xmlns:a16="http://schemas.microsoft.com/office/drawing/2014/main" id="{DE2941CA-F0D7-55F4-1C45-B1B7EFE1239B}"/>
              </a:ext>
            </a:extLst>
          </p:cNvPr>
          <p:cNvSpPr>
            <a:spLocks noGrp="1"/>
          </p:cNvSpPr>
          <p:nvPr>
            <p:ph type="body" sz="half" idx="2"/>
          </p:nvPr>
        </p:nvSpPr>
        <p:spPr>
          <a:xfrm>
            <a:off x="7037137" y="2209800"/>
            <a:ext cx="4603999" cy="4098925"/>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800" i="1" cap="none" spc="50" dirty="0"/>
              <a:t>Click on “Create hosted Zone” and follow the images. Enter domain name as “mikebelus.net” and leave others as default.</a:t>
            </a:r>
          </a:p>
          <a:p>
            <a:pPr marL="342900" indent="-270000">
              <a:lnSpc>
                <a:spcPct val="115000"/>
              </a:lnSpc>
              <a:buFont typeface="Arial" panose="020B0604020202020204" pitchFamily="34" charset="0"/>
              <a:buChar char="•"/>
            </a:pPr>
            <a:r>
              <a:rPr lang="en-US" sz="1800" i="1" cap="none" spc="50" dirty="0"/>
              <a:t>Open the created zone and click on “create record” option. Create 2 records as shown in the images.</a:t>
            </a:r>
          </a:p>
          <a:p>
            <a:pPr marL="342900" indent="-270000">
              <a:lnSpc>
                <a:spcPct val="115000"/>
              </a:lnSpc>
              <a:buFont typeface="Arial" panose="020B0604020202020204" pitchFamily="34" charset="0"/>
              <a:buChar char="•"/>
            </a:pPr>
            <a:r>
              <a:rPr lang="en-US" sz="1800" i="1" cap="none" spc="50" dirty="0"/>
              <a:t>Create records one after other, do not create them at the same time.</a:t>
            </a:r>
          </a:p>
          <a:p>
            <a:pPr marL="342900" indent="-270000">
              <a:lnSpc>
                <a:spcPct val="115000"/>
              </a:lnSpc>
              <a:buFont typeface="Arial" panose="020B0604020202020204" pitchFamily="34" charset="0"/>
              <a:buChar char="•"/>
            </a:pPr>
            <a:r>
              <a:rPr lang="en-US" sz="1800" i="1" cap="none" spc="50" dirty="0"/>
              <a:t>After 24 hours the link gets on live.</a:t>
            </a:r>
          </a:p>
        </p:txBody>
      </p:sp>
    </p:spTree>
    <p:extLst>
      <p:ext uri="{BB962C8B-B14F-4D97-AF65-F5344CB8AC3E}">
        <p14:creationId xmlns:p14="http://schemas.microsoft.com/office/powerpoint/2010/main" val="1418915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4" name="Rectangle 13">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Oval 14">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Oval 15">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7" name="Group 16">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9" name="Rectangle 18">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8" name="Rectangle 17">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2" name="Rectangle 21">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4" name="Group 23">
            <a:extLst>
              <a:ext uri="{FF2B5EF4-FFF2-40B4-BE49-F238E27FC236}">
                <a16:creationId xmlns:a16="http://schemas.microsoft.com/office/drawing/2014/main" id="{30D050C3-946A-4155-B469-3FE5492E6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5" name="Rectangle 24">
              <a:extLst>
                <a:ext uri="{FF2B5EF4-FFF2-40B4-BE49-F238E27FC236}">
                  <a16:creationId xmlns:a16="http://schemas.microsoft.com/office/drawing/2014/main" id="{70D7BFBB-BF60-4EF1-AF1C-731347DB115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0150CBC-E30B-417C-9BB2-CE6BB1A644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76020D6-6ADB-408E-A69F-4EA6F51A7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8226C8E5-1D99-421D-AB3C-2AF296A153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3" name="Rectangle 32">
                <a:extLst>
                  <a:ext uri="{FF2B5EF4-FFF2-40B4-BE49-F238E27FC236}">
                    <a16:creationId xmlns:a16="http://schemas.microsoft.com/office/drawing/2014/main" id="{67669339-D0C4-4CF0-9A76-5BFBCDB79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8B31604-91C4-4CB0-8097-02EE0ADDC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48340F5-A593-469A-98DC-B6D90D3B22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1" name="Rectangle 30">
                <a:extLst>
                  <a:ext uri="{FF2B5EF4-FFF2-40B4-BE49-F238E27FC236}">
                    <a16:creationId xmlns:a16="http://schemas.microsoft.com/office/drawing/2014/main" id="{B59E3068-3000-4C82-ACA8-36749895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2E1C398-D8F7-4828-9F7F-80D61DAE2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813B333C-60FD-4260-80E0-190666C9DE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DC05F582-AA63-4A8C-915E-66057E4BE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DAE74787-CD4E-8AA9-0301-A092E51B2BBD}"/>
              </a:ext>
            </a:extLst>
          </p:cNvPr>
          <p:cNvSpPr>
            <a:spLocks noGrp="1"/>
          </p:cNvSpPr>
          <p:nvPr>
            <p:ph type="title"/>
          </p:nvPr>
        </p:nvSpPr>
        <p:spPr>
          <a:xfrm>
            <a:off x="7086315" y="540000"/>
            <a:ext cx="4554821" cy="1374525"/>
          </a:xfrm>
        </p:spPr>
        <p:txBody>
          <a:bodyPr vert="horz" lIns="91440" tIns="45720" rIns="91440" bIns="45720" rtlCol="0" anchor="b">
            <a:normAutofit fontScale="90000"/>
          </a:bodyPr>
          <a:lstStyle/>
          <a:p>
            <a:r>
              <a:rPr lang="en-US" sz="5100" b="1" i="1" dirty="0"/>
              <a:t>Setting up Load balancers</a:t>
            </a:r>
          </a:p>
        </p:txBody>
      </p:sp>
      <p:pic>
        <p:nvPicPr>
          <p:cNvPr id="8" name="Picture 7">
            <a:extLst>
              <a:ext uri="{FF2B5EF4-FFF2-40B4-BE49-F238E27FC236}">
                <a16:creationId xmlns:a16="http://schemas.microsoft.com/office/drawing/2014/main" id="{E49C384B-35A3-A351-1495-DF62C372ADE7}"/>
              </a:ext>
            </a:extLst>
          </p:cNvPr>
          <p:cNvPicPr>
            <a:picLocks noChangeAspect="1"/>
          </p:cNvPicPr>
          <p:nvPr/>
        </p:nvPicPr>
        <p:blipFill rotWithShape="1">
          <a:blip r:embed="rId2"/>
          <a:srcRect r="3212" b="3"/>
          <a:stretch/>
        </p:blipFill>
        <p:spPr>
          <a:xfrm>
            <a:off x="20" y="10"/>
            <a:ext cx="6444556" cy="3428990"/>
          </a:xfrm>
          <a:prstGeom prst="rect">
            <a:avLst/>
          </a:prstGeom>
        </p:spPr>
      </p:pic>
      <p:pic>
        <p:nvPicPr>
          <p:cNvPr id="6" name="Picture Placeholder 5">
            <a:extLst>
              <a:ext uri="{FF2B5EF4-FFF2-40B4-BE49-F238E27FC236}">
                <a16:creationId xmlns:a16="http://schemas.microsoft.com/office/drawing/2014/main" id="{CAD8F39F-70E7-B964-9A8E-27D5602CE83A}"/>
              </a:ext>
            </a:extLst>
          </p:cNvPr>
          <p:cNvPicPr>
            <a:picLocks noGrp="1" noChangeAspect="1"/>
          </p:cNvPicPr>
          <p:nvPr>
            <p:ph type="pic" idx="1"/>
          </p:nvPr>
        </p:nvPicPr>
        <p:blipFill rotWithShape="1">
          <a:blip r:embed="rId3"/>
          <a:srcRect r="3267" b="-2"/>
          <a:stretch/>
        </p:blipFill>
        <p:spPr>
          <a:xfrm>
            <a:off x="20" y="3427200"/>
            <a:ext cx="6443980" cy="3430800"/>
          </a:xfrm>
          <a:prstGeom prst="rect">
            <a:avLst/>
          </a:prstGeom>
        </p:spPr>
      </p:pic>
      <p:sp>
        <p:nvSpPr>
          <p:cNvPr id="4" name="Text Placeholder 3">
            <a:extLst>
              <a:ext uri="{FF2B5EF4-FFF2-40B4-BE49-F238E27FC236}">
                <a16:creationId xmlns:a16="http://schemas.microsoft.com/office/drawing/2014/main" id="{0400110F-4E72-E0D5-BD1D-8616C83FFFB2}"/>
              </a:ext>
            </a:extLst>
          </p:cNvPr>
          <p:cNvSpPr>
            <a:spLocks noGrp="1"/>
          </p:cNvSpPr>
          <p:nvPr>
            <p:ph type="body" sz="half" idx="2"/>
          </p:nvPr>
        </p:nvSpPr>
        <p:spPr>
          <a:xfrm>
            <a:off x="7020944" y="1915899"/>
            <a:ext cx="4537073" cy="4548607"/>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400" i="1" cap="none" spc="50" dirty="0"/>
              <a:t>Click create under application load balancer. Give it a name. </a:t>
            </a:r>
          </a:p>
          <a:p>
            <a:pPr marL="342900" indent="-270000">
              <a:lnSpc>
                <a:spcPct val="115000"/>
              </a:lnSpc>
              <a:buFont typeface="Arial" panose="020B0604020202020204" pitchFamily="34" charset="0"/>
              <a:buChar char="•"/>
            </a:pPr>
            <a:r>
              <a:rPr lang="en-US" sz="1400" i="1" cap="none" spc="50" dirty="0"/>
              <a:t>Under network mapping select all locations and select a security group with </a:t>
            </a:r>
            <a:r>
              <a:rPr lang="en-US" sz="1400" i="1" cap="none" spc="50" dirty="0" err="1"/>
              <a:t>tcp</a:t>
            </a:r>
            <a:r>
              <a:rPr lang="en-US" sz="1400" i="1" cap="none" spc="50" dirty="0"/>
              <a:t> ports 3000, 4000, 80, 443 with 0.0.0.0/32 IP.</a:t>
            </a:r>
          </a:p>
          <a:p>
            <a:pPr marL="342900" indent="-270000">
              <a:lnSpc>
                <a:spcPct val="115000"/>
              </a:lnSpc>
              <a:buFont typeface="Arial" panose="020B0604020202020204" pitchFamily="34" charset="0"/>
              <a:buChar char="•"/>
            </a:pPr>
            <a:r>
              <a:rPr lang="en-US" sz="1400" i="1" cap="none" spc="50" dirty="0"/>
              <a:t>Under listening and routing select http 80 and create a target group with HTTP and port 80 by select the current working EC2 instance.</a:t>
            </a:r>
          </a:p>
          <a:p>
            <a:pPr marL="342900" indent="-270000">
              <a:lnSpc>
                <a:spcPct val="115000"/>
              </a:lnSpc>
              <a:buFont typeface="Arial" panose="020B0604020202020204" pitchFamily="34" charset="0"/>
              <a:buChar char="•"/>
            </a:pPr>
            <a:r>
              <a:rPr lang="en-US" sz="1400" i="1" cap="none" spc="50" dirty="0"/>
              <a:t>Click on create load balancer. Wait for it to get deployed.</a:t>
            </a:r>
          </a:p>
          <a:p>
            <a:pPr marL="342900" indent="-270000">
              <a:lnSpc>
                <a:spcPct val="115000"/>
              </a:lnSpc>
              <a:buFont typeface="Arial" panose="020B0604020202020204" pitchFamily="34" charset="0"/>
              <a:buChar char="•"/>
            </a:pPr>
            <a:r>
              <a:rPr lang="en-US" sz="1400" i="1" cap="none" spc="50" dirty="0"/>
              <a:t>Create a new listener for port 4000 that is listening to port 443 and select the EC2 instance that’s currently active. The add listener button will be seen when we go down in load balancer details.</a:t>
            </a:r>
          </a:p>
        </p:txBody>
      </p:sp>
    </p:spTree>
    <p:extLst>
      <p:ext uri="{BB962C8B-B14F-4D97-AF65-F5344CB8AC3E}">
        <p14:creationId xmlns:p14="http://schemas.microsoft.com/office/powerpoint/2010/main" val="2044475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2" name="Rectangle 1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Oval 1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5" name="Group 1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7" name="Rectangle 1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2" name="Rectangle 21">
            <a:extLst>
              <a:ext uri="{FF2B5EF4-FFF2-40B4-BE49-F238E27FC236}">
                <a16:creationId xmlns:a16="http://schemas.microsoft.com/office/drawing/2014/main" id="{182D455B-C993-4AC2-BAC2-D5C9890CE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326477-3BDF-C9AF-F5D6-2A741F74F41E}"/>
              </a:ext>
            </a:extLst>
          </p:cNvPr>
          <p:cNvSpPr>
            <a:spLocks noGrp="1"/>
          </p:cNvSpPr>
          <p:nvPr>
            <p:ph type="title"/>
          </p:nvPr>
        </p:nvSpPr>
        <p:spPr>
          <a:xfrm>
            <a:off x="540000" y="540000"/>
            <a:ext cx="4500561" cy="5768725"/>
          </a:xfrm>
        </p:spPr>
        <p:txBody>
          <a:bodyPr vert="horz" lIns="91440" tIns="45720" rIns="91440" bIns="45720" rtlCol="0" anchor="t">
            <a:normAutofit/>
          </a:bodyPr>
          <a:lstStyle/>
          <a:p>
            <a:r>
              <a:rPr lang="en-US" sz="8800" b="1" i="1"/>
              <a:t>Target group creation</a:t>
            </a:r>
          </a:p>
        </p:txBody>
      </p:sp>
      <p:pic>
        <p:nvPicPr>
          <p:cNvPr id="6" name="Picture 5" descr="A screenshot of a computer&#10;&#10;Description automatically generated">
            <a:extLst>
              <a:ext uri="{FF2B5EF4-FFF2-40B4-BE49-F238E27FC236}">
                <a16:creationId xmlns:a16="http://schemas.microsoft.com/office/drawing/2014/main" id="{8B8D6658-574D-530B-DE72-3DE8B15DC6EE}"/>
              </a:ext>
            </a:extLst>
          </p:cNvPr>
          <p:cNvPicPr>
            <a:picLocks noChangeAspect="1"/>
          </p:cNvPicPr>
          <p:nvPr/>
        </p:nvPicPr>
        <p:blipFill>
          <a:blip r:embed="rId2">
            <a:alphaModFix/>
          </a:blip>
          <a:stretch>
            <a:fillRect/>
          </a:stretch>
        </p:blipFill>
        <p:spPr>
          <a:xfrm>
            <a:off x="5232400" y="656671"/>
            <a:ext cx="6408735" cy="3316521"/>
          </a:xfrm>
          <a:prstGeom prst="rect">
            <a:avLst/>
          </a:prstGeom>
        </p:spPr>
      </p:pic>
      <p:sp>
        <p:nvSpPr>
          <p:cNvPr id="4" name="Text Placeholder 3">
            <a:extLst>
              <a:ext uri="{FF2B5EF4-FFF2-40B4-BE49-F238E27FC236}">
                <a16:creationId xmlns:a16="http://schemas.microsoft.com/office/drawing/2014/main" id="{CB47836F-B6B6-E055-BC9A-38B0B0C7EFC8}"/>
              </a:ext>
            </a:extLst>
          </p:cNvPr>
          <p:cNvSpPr>
            <a:spLocks noGrp="1"/>
          </p:cNvSpPr>
          <p:nvPr>
            <p:ph type="body" sz="half" idx="2"/>
          </p:nvPr>
        </p:nvSpPr>
        <p:spPr>
          <a:xfrm>
            <a:off x="5232400" y="4304522"/>
            <a:ext cx="6408738" cy="2012178"/>
          </a:xfrm>
        </p:spPr>
        <p:txBody>
          <a:bodyPr vert="horz" lIns="91440" tIns="45720" rIns="91440" bIns="45720" rtlCol="0" anchor="b">
            <a:normAutofit/>
          </a:bodyPr>
          <a:lstStyle/>
          <a:p>
            <a:pPr indent="-270000">
              <a:lnSpc>
                <a:spcPct val="115000"/>
              </a:lnSpc>
              <a:buFont typeface="Arial" panose="020B0604020202020204" pitchFamily="34" charset="0"/>
              <a:buChar char="•"/>
            </a:pPr>
            <a:r>
              <a:rPr lang="en-US" sz="1800" i="1" cap="none" spc="50" dirty="0"/>
              <a:t>1. Create the target group with the configurations shown in the picture.</a:t>
            </a:r>
          </a:p>
          <a:p>
            <a:pPr indent="-270000">
              <a:lnSpc>
                <a:spcPct val="115000"/>
              </a:lnSpc>
              <a:buFont typeface="Arial" panose="020B0604020202020204" pitchFamily="34" charset="0"/>
              <a:buChar char="•"/>
            </a:pPr>
            <a:r>
              <a:rPr lang="en-US" sz="1800" i="1" cap="none" spc="50" dirty="0"/>
              <a:t>2. Port http 80 and select the EC2 instance that’s currently been used. </a:t>
            </a:r>
          </a:p>
          <a:p>
            <a:pPr indent="-270000">
              <a:lnSpc>
                <a:spcPct val="115000"/>
              </a:lnSpc>
              <a:buFont typeface="Arial" panose="020B0604020202020204" pitchFamily="34" charset="0"/>
              <a:buChar char="•"/>
            </a:pPr>
            <a:r>
              <a:rPr lang="en-US" sz="1800" i="1" cap="none" spc="50" dirty="0"/>
              <a:t>3. Make sure that target group is healthy.</a:t>
            </a:r>
          </a:p>
        </p:txBody>
      </p:sp>
    </p:spTree>
    <p:extLst>
      <p:ext uri="{BB962C8B-B14F-4D97-AF65-F5344CB8AC3E}">
        <p14:creationId xmlns:p14="http://schemas.microsoft.com/office/powerpoint/2010/main" val="4268934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12" name="Rectangle 11">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Oval 13">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5" name="Group 14">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17" name="Rectangle 16">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2" name="Rectangle 21">
            <a:extLst>
              <a:ext uri="{FF2B5EF4-FFF2-40B4-BE49-F238E27FC236}">
                <a16:creationId xmlns:a16="http://schemas.microsoft.com/office/drawing/2014/main" id="{7D2FD795-8DF5-44F0-8664-4D8F626D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5" name="Rectangle 24">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3" name="Rectangle 32">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1" name="Rectangle 30">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6AE2986C-6DE5-B2E1-F338-6FB8C28FA9D1}"/>
              </a:ext>
            </a:extLst>
          </p:cNvPr>
          <p:cNvSpPr>
            <a:spLocks noGrp="1"/>
          </p:cNvSpPr>
          <p:nvPr>
            <p:ph type="title"/>
          </p:nvPr>
        </p:nvSpPr>
        <p:spPr>
          <a:xfrm>
            <a:off x="7086315" y="545126"/>
            <a:ext cx="4554821" cy="2186096"/>
          </a:xfrm>
        </p:spPr>
        <p:txBody>
          <a:bodyPr vert="horz" lIns="91440" tIns="45720" rIns="91440" bIns="45720" rtlCol="0" anchor="t">
            <a:normAutofit/>
          </a:bodyPr>
          <a:lstStyle/>
          <a:p>
            <a:r>
              <a:rPr lang="en-US" b="1" i="1" dirty="0"/>
              <a:t>Addons in route 53</a:t>
            </a:r>
          </a:p>
        </p:txBody>
      </p:sp>
      <p:pic>
        <p:nvPicPr>
          <p:cNvPr id="6" name="Picture 5" descr="A screenshot of a computer&#10;&#10;Description automatically generated">
            <a:extLst>
              <a:ext uri="{FF2B5EF4-FFF2-40B4-BE49-F238E27FC236}">
                <a16:creationId xmlns:a16="http://schemas.microsoft.com/office/drawing/2014/main" id="{B75EEF9D-A15D-9E2A-D9B8-2DEB45EDB431}"/>
              </a:ext>
            </a:extLst>
          </p:cNvPr>
          <p:cNvPicPr>
            <a:picLocks noChangeAspect="1"/>
          </p:cNvPicPr>
          <p:nvPr/>
        </p:nvPicPr>
        <p:blipFill>
          <a:blip r:embed="rId2"/>
          <a:stretch>
            <a:fillRect/>
          </a:stretch>
        </p:blipFill>
        <p:spPr>
          <a:xfrm>
            <a:off x="540000" y="1866561"/>
            <a:ext cx="6049714" cy="3115602"/>
          </a:xfrm>
          <a:prstGeom prst="rect">
            <a:avLst/>
          </a:prstGeom>
        </p:spPr>
      </p:pic>
      <p:sp>
        <p:nvSpPr>
          <p:cNvPr id="4" name="Text Placeholder 3">
            <a:extLst>
              <a:ext uri="{FF2B5EF4-FFF2-40B4-BE49-F238E27FC236}">
                <a16:creationId xmlns:a16="http://schemas.microsoft.com/office/drawing/2014/main" id="{8301823C-DDB1-3F7E-F9FC-5671ABF634D9}"/>
              </a:ext>
            </a:extLst>
          </p:cNvPr>
          <p:cNvSpPr>
            <a:spLocks noGrp="1"/>
          </p:cNvSpPr>
          <p:nvPr>
            <p:ph type="body" sz="half" idx="2"/>
          </p:nvPr>
        </p:nvSpPr>
        <p:spPr>
          <a:xfrm>
            <a:off x="7048847" y="2542587"/>
            <a:ext cx="4537073" cy="3361604"/>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800" i="1" cap="none" spc="50" dirty="0"/>
              <a:t>Make sure the Name servers match in route 53 and at the place where the domain is hosted.</a:t>
            </a:r>
          </a:p>
          <a:p>
            <a:pPr marL="342900" indent="-270000">
              <a:lnSpc>
                <a:spcPct val="115000"/>
              </a:lnSpc>
              <a:buFont typeface="Arial" panose="020B0604020202020204" pitchFamily="34" charset="0"/>
              <a:buChar char="•"/>
            </a:pPr>
            <a:r>
              <a:rPr lang="en-US" sz="1800" i="1" cap="none" spc="50" dirty="0"/>
              <a:t>Create another record with the configurations showed in the picture above.</a:t>
            </a:r>
          </a:p>
          <a:p>
            <a:pPr marL="342900" indent="-270000">
              <a:lnSpc>
                <a:spcPct val="115000"/>
              </a:lnSpc>
              <a:buFont typeface="Arial" panose="020B0604020202020204" pitchFamily="34" charset="0"/>
              <a:buChar char="•"/>
            </a:pPr>
            <a:r>
              <a:rPr lang="en-US" sz="1800" i="1" cap="none" spc="50" dirty="0"/>
              <a:t>This is api.mikebelus.net which we create it for the API navigation as we already created mikebelus.net for UI.</a:t>
            </a:r>
          </a:p>
        </p:txBody>
      </p:sp>
    </p:spTree>
    <p:extLst>
      <p:ext uri="{BB962C8B-B14F-4D97-AF65-F5344CB8AC3E}">
        <p14:creationId xmlns:p14="http://schemas.microsoft.com/office/powerpoint/2010/main" val="554265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2" name="Group 61">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83" name="Rectangle 62">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4" name="Oval 63">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5" name="Oval 64">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66" name="Group 65">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86" name="Rectangle 67">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7" name="Rectangle 68">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88" name="Rectangle 66">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89" name="Rectangle 70">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90" name="Rectangle 72">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 name="Group 74">
            <a:extLst>
              <a:ext uri="{FF2B5EF4-FFF2-40B4-BE49-F238E27FC236}">
                <a16:creationId xmlns:a16="http://schemas.microsoft.com/office/drawing/2014/main" id="{987A62DB-71D7-497D-BE1C-933ECB515A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92" name="Oval 75">
              <a:extLst>
                <a:ext uri="{FF2B5EF4-FFF2-40B4-BE49-F238E27FC236}">
                  <a16:creationId xmlns:a16="http://schemas.microsoft.com/office/drawing/2014/main" id="{FDAC2767-A7E3-4697-90F6-443A583140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76">
              <a:extLst>
                <a:ext uri="{FF2B5EF4-FFF2-40B4-BE49-F238E27FC236}">
                  <a16:creationId xmlns:a16="http://schemas.microsoft.com/office/drawing/2014/main" id="{AB23E396-A746-411A-8709-32ABC4DDE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77">
              <a:extLst>
                <a:ext uri="{FF2B5EF4-FFF2-40B4-BE49-F238E27FC236}">
                  <a16:creationId xmlns:a16="http://schemas.microsoft.com/office/drawing/2014/main" id="{D135C986-CB82-4211-A910-D232B9BCA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95" name="Freeform: Shape 79">
            <a:extLst>
              <a:ext uri="{FF2B5EF4-FFF2-40B4-BE49-F238E27FC236}">
                <a16:creationId xmlns:a16="http://schemas.microsoft.com/office/drawing/2014/main" id="{837F2C8F-CC11-4A18-AA7E-AE8C022CD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F2CC672-7098-B005-ADF6-8D3E9D166DE0}"/>
              </a:ext>
            </a:extLst>
          </p:cNvPr>
          <p:cNvSpPr>
            <a:spLocks noGrp="1"/>
          </p:cNvSpPr>
          <p:nvPr>
            <p:ph type="title"/>
          </p:nvPr>
        </p:nvSpPr>
        <p:spPr>
          <a:xfrm>
            <a:off x="540000" y="540000"/>
            <a:ext cx="4500561" cy="2181946"/>
          </a:xfrm>
        </p:spPr>
        <p:txBody>
          <a:bodyPr vert="horz" lIns="91440" tIns="45720" rIns="91440" bIns="45720" rtlCol="0" anchor="t">
            <a:normAutofit/>
          </a:bodyPr>
          <a:lstStyle/>
          <a:p>
            <a:r>
              <a:rPr lang="en-US" sz="4400" b="1" i="1" dirty="0"/>
              <a:t>Brief on what all tools we used</a:t>
            </a:r>
          </a:p>
        </p:txBody>
      </p:sp>
      <p:sp>
        <p:nvSpPr>
          <p:cNvPr id="4" name="Text Placeholder 3">
            <a:extLst>
              <a:ext uri="{FF2B5EF4-FFF2-40B4-BE49-F238E27FC236}">
                <a16:creationId xmlns:a16="http://schemas.microsoft.com/office/drawing/2014/main" id="{1F2BB707-5377-1A5F-49C1-02A5C50C3169}"/>
              </a:ext>
            </a:extLst>
          </p:cNvPr>
          <p:cNvSpPr>
            <a:spLocks noGrp="1"/>
          </p:cNvSpPr>
          <p:nvPr>
            <p:ph type="body" sz="half" idx="2"/>
          </p:nvPr>
        </p:nvSpPr>
        <p:spPr>
          <a:xfrm>
            <a:off x="500281" y="2092656"/>
            <a:ext cx="4500562" cy="4320000"/>
          </a:xfrm>
        </p:spPr>
        <p:txBody>
          <a:bodyPr vert="horz" lIns="91440" tIns="45720" rIns="91440" bIns="45720" rtlCol="0" anchor="t">
            <a:normAutofit/>
          </a:bodyPr>
          <a:lstStyle/>
          <a:p>
            <a:pPr marL="342900" indent="-270000">
              <a:lnSpc>
                <a:spcPct val="115000"/>
              </a:lnSpc>
              <a:buFont typeface="Arial" panose="020B0604020202020204" pitchFamily="34" charset="0"/>
              <a:buChar char="•"/>
            </a:pPr>
            <a:r>
              <a:rPr lang="en-US" sz="1200" i="1" cap="none" spc="50" dirty="0"/>
              <a:t>EC2 instance t2.medium – To run the webapp UI and API.</a:t>
            </a:r>
          </a:p>
          <a:p>
            <a:pPr marL="342900" indent="-270000">
              <a:lnSpc>
                <a:spcPct val="115000"/>
              </a:lnSpc>
              <a:buFont typeface="Arial" panose="020B0604020202020204" pitchFamily="34" charset="0"/>
              <a:buChar char="•"/>
            </a:pPr>
            <a:r>
              <a:rPr lang="en-US" sz="1200" i="1" cap="none" spc="50" dirty="0"/>
              <a:t>Elastic IP – To make sure the IP of EC2 instance stays the same even after the instance is being restarted.</a:t>
            </a:r>
          </a:p>
          <a:p>
            <a:pPr marL="342900" indent="-270000">
              <a:lnSpc>
                <a:spcPct val="115000"/>
              </a:lnSpc>
              <a:buFont typeface="Arial" panose="020B0604020202020204" pitchFamily="34" charset="0"/>
              <a:buChar char="•"/>
            </a:pPr>
            <a:r>
              <a:rPr lang="en-US" sz="1200" i="1" cap="none" spc="50" dirty="0"/>
              <a:t>RDS database t2.micro – To store the database.</a:t>
            </a:r>
          </a:p>
          <a:p>
            <a:pPr marL="342900" indent="-270000">
              <a:lnSpc>
                <a:spcPct val="115000"/>
              </a:lnSpc>
              <a:buFont typeface="Arial" panose="020B0604020202020204" pitchFamily="34" charset="0"/>
              <a:buChar char="•"/>
            </a:pPr>
            <a:r>
              <a:rPr lang="en-US" sz="1200" i="1" cap="none" spc="50" dirty="0"/>
              <a:t>Route 53 – To navigate our localhost:3000 and localhost:3000 to DNS registered link.</a:t>
            </a:r>
          </a:p>
          <a:p>
            <a:pPr marL="342900" indent="-270000">
              <a:lnSpc>
                <a:spcPct val="115000"/>
              </a:lnSpc>
              <a:buFont typeface="Arial" panose="020B0604020202020204" pitchFamily="34" charset="0"/>
              <a:buChar char="•"/>
            </a:pPr>
            <a:r>
              <a:rPr lang="en-US" sz="1200" i="1" cap="none" spc="50" dirty="0"/>
              <a:t>Amazon Certificate Manager (ACM) – To get SSL certificate to run the webapp on mikebelus.net and we also use this ACM to make our link to HTTPS to enable user location services.</a:t>
            </a:r>
          </a:p>
          <a:p>
            <a:pPr marL="342900" indent="-270000">
              <a:lnSpc>
                <a:spcPct val="115000"/>
              </a:lnSpc>
              <a:buFont typeface="Arial" panose="020B0604020202020204" pitchFamily="34" charset="0"/>
              <a:buChar char="•"/>
            </a:pPr>
            <a:r>
              <a:rPr lang="en-US" sz="1200" i="1" cap="none" spc="50" dirty="0"/>
              <a:t>Load balancer – To redirect HTTP requests to HTTPS using ACM certificate.</a:t>
            </a:r>
          </a:p>
          <a:p>
            <a:pPr marL="342900" indent="-270000">
              <a:lnSpc>
                <a:spcPct val="115000"/>
              </a:lnSpc>
              <a:buFont typeface="Arial" panose="020B0604020202020204" pitchFamily="34" charset="0"/>
              <a:buChar char="•"/>
            </a:pPr>
            <a:r>
              <a:rPr lang="en-US" sz="1200" i="1" cap="none" spc="50" dirty="0"/>
              <a:t>Target groups – To mention from what port to what port we are redirecting the traffic to.</a:t>
            </a:r>
          </a:p>
          <a:p>
            <a:pPr marL="342900" indent="-270000">
              <a:lnSpc>
                <a:spcPct val="115000"/>
              </a:lnSpc>
              <a:buFont typeface="Arial" panose="020B0604020202020204" pitchFamily="34" charset="0"/>
              <a:buChar char="•"/>
            </a:pPr>
            <a:endParaRPr lang="en-US" sz="1200" i="1" cap="none" spc="50" dirty="0"/>
          </a:p>
        </p:txBody>
      </p:sp>
      <p:pic>
        <p:nvPicPr>
          <p:cNvPr id="57" name="Graphic 7" descr="Tools">
            <a:extLst>
              <a:ext uri="{FF2B5EF4-FFF2-40B4-BE49-F238E27FC236}">
                <a16:creationId xmlns:a16="http://schemas.microsoft.com/office/drawing/2014/main" id="{3F7B9DCB-341E-51A2-670C-36A06CDE52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5000" y="1629000"/>
            <a:ext cx="3600000" cy="3600000"/>
          </a:xfrm>
          <a:prstGeom prst="rect">
            <a:avLst/>
          </a:prstGeom>
        </p:spPr>
      </p:pic>
    </p:spTree>
    <p:extLst>
      <p:ext uri="{BB962C8B-B14F-4D97-AF65-F5344CB8AC3E}">
        <p14:creationId xmlns:p14="http://schemas.microsoft.com/office/powerpoint/2010/main" val="1686892776"/>
      </p:ext>
    </p:extLst>
  </p:cSld>
  <p:clrMapOvr>
    <a:masterClrMapping/>
  </p:clrMapOvr>
</p:sld>
</file>

<file path=ppt/theme/theme1.xml><?xml version="1.0" encoding="utf-8"?>
<a:theme xmlns:a="http://schemas.openxmlformats.org/drawingml/2006/main" name="GlowVTI">
  <a:themeElements>
    <a:clrScheme name="AnalogousFromDarkSeed_2SEEDS">
      <a:dk1>
        <a:srgbClr val="000000"/>
      </a:dk1>
      <a:lt1>
        <a:srgbClr val="FFFFFF"/>
      </a:lt1>
      <a:dk2>
        <a:srgbClr val="393620"/>
      </a:dk2>
      <a:lt2>
        <a:srgbClr val="E2E3E8"/>
      </a:lt2>
      <a:accent1>
        <a:srgbClr val="AE9F3A"/>
      </a:accent1>
      <a:accent2>
        <a:srgbClr val="C3834D"/>
      </a:accent2>
      <a:accent3>
        <a:srgbClr val="8DAC43"/>
      </a:accent3>
      <a:accent4>
        <a:srgbClr val="3BB16E"/>
      </a:accent4>
      <a:accent5>
        <a:srgbClr val="45B0A0"/>
      </a:accent5>
      <a:accent6>
        <a:srgbClr val="3B92B1"/>
      </a:accent6>
      <a:hlink>
        <a:srgbClr val="309054"/>
      </a:hlink>
      <a:folHlink>
        <a:srgbClr val="7F7F7F"/>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docProps/app.xml><?xml version="1.0" encoding="utf-8"?>
<Properties xmlns="http://schemas.openxmlformats.org/officeDocument/2006/extended-properties" xmlns:vt="http://schemas.openxmlformats.org/officeDocument/2006/docPropsVTypes">
  <TotalTime>616</TotalTime>
  <Words>1826</Words>
  <Application>Microsoft Office PowerPoint</Application>
  <PresentationFormat>Widescreen</PresentationFormat>
  <Paragraphs>104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Avenir Next LT Pro</vt:lpstr>
      <vt:lpstr>Bell MT</vt:lpstr>
      <vt:lpstr>Consolas</vt:lpstr>
      <vt:lpstr>GlowVTI</vt:lpstr>
      <vt:lpstr>What Should I Wear Deployment</vt:lpstr>
      <vt:lpstr>Changes that should be done in code before pushing into github</vt:lpstr>
      <vt:lpstr>Continuation</vt:lpstr>
      <vt:lpstr>Remove the API key before deploying</vt:lpstr>
      <vt:lpstr>REGION</vt:lpstr>
      <vt:lpstr>Setting up env in VSCode and Github</vt:lpstr>
      <vt:lpstr>Creating an EC2 Instance</vt:lpstr>
      <vt:lpstr>Creating an RDS database</vt:lpstr>
      <vt:lpstr>Security groups in EC2</vt:lpstr>
      <vt:lpstr>Setting up env in EC2 instance</vt:lpstr>
      <vt:lpstr>Security groups in RDS</vt:lpstr>
      <vt:lpstr>Creating files and uploading from git into EC2</vt:lpstr>
      <vt:lpstr>Setting up RDS Database from Local</vt:lpstr>
      <vt:lpstr>Optional- Setting up RDS Database through EC Console</vt:lpstr>
      <vt:lpstr>Setting up Elastic IP</vt:lpstr>
      <vt:lpstr>Setting up PM2 in EC2</vt:lpstr>
      <vt:lpstr>Setting up Cronjob in EC2</vt:lpstr>
      <vt:lpstr>Setting up Route 53 Service</vt:lpstr>
      <vt:lpstr>Setting up Load balancers</vt:lpstr>
      <vt:lpstr>Target group creation</vt:lpstr>
      <vt:lpstr>Addons in route 53</vt:lpstr>
      <vt:lpstr>Brief on what all tools we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Should I Wear Deployement</dc:title>
  <dc:creator>Sai Kiran Angalakudhiti</dc:creator>
  <cp:lastModifiedBy>Sai Kiran Angalakudhiti</cp:lastModifiedBy>
  <cp:revision>54</cp:revision>
  <dcterms:created xsi:type="dcterms:W3CDTF">2023-05-05T05:19:17Z</dcterms:created>
  <dcterms:modified xsi:type="dcterms:W3CDTF">2023-05-11T22:04:28Z</dcterms:modified>
</cp:coreProperties>
</file>